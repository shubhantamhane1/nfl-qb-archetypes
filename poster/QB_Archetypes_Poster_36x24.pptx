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545"/>
    <p:restoredTop sz="94610"/>
  </p:normalViewPr>
  <p:slideViewPr>
    <p:cSldViewPr snapToGrid="0" snapToObjects="1">
      <p:cViewPr>
        <p:scale>
          <a:sx n="46" d="100"/>
          <a:sy n="46" d="100"/>
        </p:scale>
        <p:origin x="-144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1F4E9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6B1-7F4B-B0D9-15C3C3913BA0}"/>
              </c:ext>
            </c:extLst>
          </c:dPt>
          <c:dPt>
            <c:idx val="1"/>
            <c:invertIfNegative val="0"/>
            <c:bubble3D val="0"/>
            <c:spPr>
              <a:solidFill>
                <a:srgbClr val="E67E2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6B1-7F4B-B0D9-15C3C3913BA0}"/>
              </c:ext>
            </c:extLst>
          </c:dPt>
          <c:dPt>
            <c:idx val="2"/>
            <c:invertIfNegative val="0"/>
            <c:bubble3D val="0"/>
            <c:spPr>
              <a:solidFill>
                <a:srgbClr val="27AE6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6B1-7F4B-B0D9-15C3C3913BA0}"/>
              </c:ext>
            </c:extLst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6B1-7F4B-B0D9-15C3C3913BA0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000" b="0" i="0" u="none" strike="noStrike">
                    <a:solidFill>
                      <a:srgbClr val="1C1C1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Pocket Passer</c:v>
                </c:pt>
                <c:pt idx="1">
                  <c:v>Game Manager</c:v>
                </c:pt>
                <c:pt idx="2">
                  <c:v>Gunslinger</c:v>
                </c:pt>
                <c:pt idx="3">
                  <c:v>Dual Threat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48</c:v>
                </c:pt>
                <c:pt idx="2">
                  <c:v>47</c:v>
                </c:pt>
                <c:pt idx="3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6B1-7F4B-B0D9-15C3C3913BA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5A6A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5A6A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8FAF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27302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24688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468880"/>
            <a:ext cx="32918400" cy="137160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37160"/>
            <a:ext cx="2468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Identifying NFL Quarterback Archetypes via K-Means Clustering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2468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BFD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Shubhan Tamhane  </a:t>
            </a:r>
            <a:r>
              <a:rPr lang="en-US" sz="2600" dirty="0">
                <a:solidFill>
                  <a:srgbClr val="BFD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Undergraduate Data Science Student  |  University of Connecticut  |  Spring 2026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28600" y="2743200"/>
            <a:ext cx="8595360" cy="18928080"/>
          </a:xfrm>
          <a:prstGeom prst="rect">
            <a:avLst/>
          </a:prstGeom>
          <a:solidFill>
            <a:srgbClr val="FFFFFF"/>
          </a:solidFill>
          <a:ln w="25400">
            <a:solidFill>
              <a:srgbClr val="C8D6E5"/>
            </a:solidFill>
            <a:prstDash val="solid"/>
          </a:ln>
          <a:effectLst>
            <a:outerShdw blurRad="1270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833104" y="2816352"/>
            <a:ext cx="10972800" cy="18928080"/>
          </a:xfrm>
          <a:prstGeom prst="rect">
            <a:avLst/>
          </a:prstGeom>
          <a:solidFill>
            <a:srgbClr val="FFFFFF"/>
          </a:solidFill>
          <a:ln w="25400">
            <a:solidFill>
              <a:srgbClr val="C8D6E5"/>
            </a:solidFill>
            <a:prstDash val="solid"/>
          </a:ln>
          <a:effectLst>
            <a:outerShdw blurRad="1270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0253960" y="2743200"/>
            <a:ext cx="12435840" cy="18928080"/>
          </a:xfrm>
          <a:prstGeom prst="rect">
            <a:avLst/>
          </a:prstGeom>
          <a:solidFill>
            <a:srgbClr val="FFFFFF"/>
          </a:solidFill>
          <a:ln w="25400">
            <a:solidFill>
              <a:srgbClr val="C8D6E5"/>
            </a:solidFill>
            <a:prstDash val="solid"/>
          </a:ln>
          <a:effectLst>
            <a:outerShdw blurRad="1270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2999232"/>
            <a:ext cx="813816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299923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5800" y="2999232"/>
            <a:ext cx="7909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</a:rPr>
              <a:t>ABSTRACT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3776472"/>
            <a:ext cx="7955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QB metrics like passer rating collapse multidimensional playing styles into a single value. This study asks: Can K-means clustering identify distinct, interpretable archetypes from NFL performance?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457200" y="5696712"/>
            <a:ext cx="813816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569671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" y="5696712"/>
            <a:ext cx="7909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48640" y="6473952"/>
            <a:ext cx="2560320" cy="1463040"/>
          </a:xfrm>
          <a:prstGeom prst="rect">
            <a:avLst/>
          </a:prstGeom>
          <a:solidFill>
            <a:srgbClr val="EBF3FB"/>
          </a:solidFill>
          <a:ln w="12700">
            <a:solidFill>
              <a:srgbClr val="C8D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656539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204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548640" y="73883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QB-Seasons</a:t>
            </a:r>
            <a:endParaRPr lang="en-US" sz="2000" b="1" dirty="0"/>
          </a:p>
        </p:txBody>
      </p:sp>
      <p:sp>
        <p:nvSpPr>
          <p:cNvPr id="21" name="Shape 19"/>
          <p:cNvSpPr/>
          <p:nvPr/>
        </p:nvSpPr>
        <p:spPr>
          <a:xfrm>
            <a:off x="3291840" y="6473952"/>
            <a:ext cx="2560320" cy="1463040"/>
          </a:xfrm>
          <a:prstGeom prst="rect">
            <a:avLst/>
          </a:prstGeom>
          <a:solidFill>
            <a:srgbClr val="EBF3FB"/>
          </a:solidFill>
          <a:ln w="12700">
            <a:solidFill>
              <a:srgbClr val="C8D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291840" y="656539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2019–24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3291840" y="73883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NFL Seasons</a:t>
            </a:r>
            <a:endParaRPr lang="en-US" sz="2000" b="1" dirty="0"/>
          </a:p>
        </p:txBody>
      </p:sp>
      <p:sp>
        <p:nvSpPr>
          <p:cNvPr id="24" name="Shape 22"/>
          <p:cNvSpPr/>
          <p:nvPr/>
        </p:nvSpPr>
        <p:spPr>
          <a:xfrm>
            <a:off x="6035040" y="6473952"/>
            <a:ext cx="2560320" cy="1463040"/>
          </a:xfrm>
          <a:prstGeom prst="rect">
            <a:avLst/>
          </a:prstGeom>
          <a:solidFill>
            <a:srgbClr val="EBF3FB"/>
          </a:solidFill>
          <a:ln w="12700">
            <a:solidFill>
              <a:srgbClr val="C8D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035040" y="656539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≥100/20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6035040" y="73883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Pass/Rush Att.</a:t>
            </a:r>
            <a:endParaRPr lang="en-US" sz="2000" b="1" dirty="0"/>
          </a:p>
        </p:txBody>
      </p:sp>
      <p:sp>
        <p:nvSpPr>
          <p:cNvPr id="27" name="Text 25"/>
          <p:cNvSpPr/>
          <p:nvPr/>
        </p:nvSpPr>
        <p:spPr>
          <a:xfrm>
            <a:off x="548640" y="8074152"/>
            <a:ext cx="7955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Pro Football Reference. Merged passing &amp; rushing season stats; mid-season trades handled via totals rows. Missing QBR imputed with mean; longest rush with median.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57200" y="9445752"/>
            <a:ext cx="813816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7200" y="944575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85800" y="9445752"/>
            <a:ext cx="7909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METHODS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548640" y="10287000"/>
            <a:ext cx="502920" cy="50292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10287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43000" y="10222992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passing + rushing metrics; non-numeric identifiers dropped.</a:t>
            </a:r>
            <a:endParaRPr lang="en-US" sz="1900" dirty="0"/>
          </a:p>
        </p:txBody>
      </p:sp>
      <p:sp>
        <p:nvSpPr>
          <p:cNvPr id="34" name="Shape 32"/>
          <p:cNvSpPr/>
          <p:nvPr/>
        </p:nvSpPr>
        <p:spPr>
          <a:xfrm>
            <a:off x="548640" y="10981944"/>
            <a:ext cx="502920" cy="50292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8640" y="109819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143000" y="10917936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Standardization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scaling via StandardScaler to equalize feature magnitudes.</a:t>
            </a:r>
            <a:endParaRPr lang="en-US" sz="1900" dirty="0"/>
          </a:p>
        </p:txBody>
      </p:sp>
      <p:sp>
        <p:nvSpPr>
          <p:cNvPr id="37" name="Shape 35"/>
          <p:cNvSpPr/>
          <p:nvPr/>
        </p:nvSpPr>
        <p:spPr>
          <a:xfrm>
            <a:off x="548640" y="11676888"/>
            <a:ext cx="502920" cy="50292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48640" y="11676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143000" y="11612880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for visualization &amp; dimensionality reduction (~90% variance at 10 PCs).</a:t>
            </a:r>
            <a:endParaRPr lang="en-US" sz="1900" dirty="0"/>
          </a:p>
        </p:txBody>
      </p:sp>
      <p:sp>
        <p:nvSpPr>
          <p:cNvPr id="40" name="Shape 38"/>
          <p:cNvSpPr/>
          <p:nvPr/>
        </p:nvSpPr>
        <p:spPr>
          <a:xfrm>
            <a:off x="548640" y="12371832"/>
            <a:ext cx="502920" cy="50292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48640" y="12371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143000" y="12307824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Clustering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k-means++ init; k=2–10 evaluated via elbow + silhouette. k=4 selected.</a:t>
            </a:r>
            <a:endParaRPr lang="en-US" sz="1900" dirty="0"/>
          </a:p>
        </p:txBody>
      </p:sp>
      <p:sp>
        <p:nvSpPr>
          <p:cNvPr id="43" name="Shape 41"/>
          <p:cNvSpPr/>
          <p:nvPr/>
        </p:nvSpPr>
        <p:spPr>
          <a:xfrm>
            <a:off x="548640" y="13066776"/>
            <a:ext cx="502920" cy="50292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48640" y="130667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143000" y="13002768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ANOVA + Tukey HSD post-hoc tests across all key metrics.</a:t>
            </a:r>
            <a:endParaRPr lang="en-US" sz="1900" dirty="0"/>
          </a:p>
        </p:txBody>
      </p:sp>
      <p:sp>
        <p:nvSpPr>
          <p:cNvPr id="46" name="Shape 44"/>
          <p:cNvSpPr/>
          <p:nvPr/>
        </p:nvSpPr>
        <p:spPr>
          <a:xfrm>
            <a:off x="457200" y="13926312"/>
            <a:ext cx="813816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57200" y="1392631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685800" y="13926312"/>
            <a:ext cx="7909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CONCLUSIONS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548640" y="14703552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 ANOVA tests significant (p &lt; 0.001) — clusters are statistically real.</a:t>
            </a:r>
            <a:endParaRPr lang="en-US" sz="1900" dirty="0"/>
          </a:p>
        </p:txBody>
      </p:sp>
      <p:sp>
        <p:nvSpPr>
          <p:cNvPr id="50" name="Text 48"/>
          <p:cNvSpPr/>
          <p:nvPr/>
        </p:nvSpPr>
        <p:spPr>
          <a:xfrm>
            <a:off x="548640" y="15416784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Pocket Passers and Dual Threats have similar QBR, efficiency achieved via different styles.</a:t>
            </a:r>
            <a:endParaRPr lang="en-US" sz="1900" dirty="0"/>
          </a:p>
        </p:txBody>
      </p:sp>
      <p:sp>
        <p:nvSpPr>
          <p:cNvPr id="51" name="Text 49"/>
          <p:cNvSpPr/>
          <p:nvPr/>
        </p:nvSpPr>
        <p:spPr>
          <a:xfrm>
            <a:off x="548640" y="16130016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Archetypes exist on a continuum; moderate boundary overlap is expected.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548640" y="16843248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within-career style evolution; Next gen stats</a:t>
            </a:r>
            <a:endParaRPr lang="en-US" sz="1900" dirty="0"/>
          </a:p>
        </p:txBody>
      </p:sp>
      <p:sp>
        <p:nvSpPr>
          <p:cNvPr id="55" name="Text 53"/>
          <p:cNvSpPr/>
          <p:nvPr/>
        </p:nvSpPr>
        <p:spPr>
          <a:xfrm>
            <a:off x="21282660" y="18114264"/>
            <a:ext cx="7909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&amp; REPRODUCIBILITY</a:t>
            </a:r>
            <a:endParaRPr lang="en-US" sz="2200" dirty="0"/>
          </a:p>
        </p:txBody>
      </p:sp>
      <p:sp>
        <p:nvSpPr>
          <p:cNvPr id="57" name="Text 54"/>
          <p:cNvSpPr/>
          <p:nvPr/>
        </p:nvSpPr>
        <p:spPr>
          <a:xfrm>
            <a:off x="23463504" y="18370296"/>
            <a:ext cx="5394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r>
              <a:rPr lang="en-US" sz="2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github.com/ShubhanTamhane1/
nfl-qb-archetypes</a:t>
            </a:r>
            <a:r>
              <a:rPr lang="en-US" sz="17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2000" dirty="0"/>
          </a:p>
          <a:p>
            <a:pPr marL="0" indent="0">
              <a:buNone/>
            </a:pPr>
            <a:r>
              <a:rPr lang="en-US" sz="2000" i="1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source code, notebook, and data pipeline</a:t>
            </a:r>
            <a:r>
              <a:rPr lang="en-US" sz="1600" i="1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58" name="Shape 55"/>
          <p:cNvSpPr/>
          <p:nvPr/>
        </p:nvSpPr>
        <p:spPr>
          <a:xfrm>
            <a:off x="9281160" y="2999232"/>
            <a:ext cx="1051560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6"/>
          <p:cNvSpPr/>
          <p:nvPr/>
        </p:nvSpPr>
        <p:spPr>
          <a:xfrm>
            <a:off x="9281160" y="299923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7"/>
          <p:cNvSpPr/>
          <p:nvPr/>
        </p:nvSpPr>
        <p:spPr>
          <a:xfrm>
            <a:off x="9509760" y="2999232"/>
            <a:ext cx="10287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— QB CLUSTERS IN PCA SPACE</a:t>
            </a:r>
            <a:endParaRPr lang="en-US" sz="2200" dirty="0"/>
          </a:p>
        </p:txBody>
      </p:sp>
      <p:sp>
        <p:nvSpPr>
          <p:cNvPr id="62" name="Text 58"/>
          <p:cNvSpPr/>
          <p:nvPr/>
        </p:nvSpPr>
        <p:spPr>
          <a:xfrm>
            <a:off x="9281160" y="10497312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i="1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 (38.0% variance) separates high-volume passers from limited starters. PC2 (17.2% variance) isolates rushing-dominant players. Dual Threat QBs form a visually distinct cluster at high PC2 values.</a:t>
            </a:r>
            <a:endParaRPr lang="en-US" sz="1900" dirty="0"/>
          </a:p>
        </p:txBody>
      </p:sp>
      <p:sp>
        <p:nvSpPr>
          <p:cNvPr id="63" name="Shape 59"/>
          <p:cNvSpPr/>
          <p:nvPr/>
        </p:nvSpPr>
        <p:spPr>
          <a:xfrm>
            <a:off x="9061704" y="11713464"/>
            <a:ext cx="1051560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0"/>
          <p:cNvSpPr/>
          <p:nvPr/>
        </p:nvSpPr>
        <p:spPr>
          <a:xfrm>
            <a:off x="9061704" y="11713464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1"/>
          <p:cNvSpPr/>
          <p:nvPr/>
        </p:nvSpPr>
        <p:spPr>
          <a:xfrm>
            <a:off x="9290304" y="11713464"/>
            <a:ext cx="10287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 MEANS (KEY METRICS)</a:t>
            </a:r>
            <a:endParaRPr lang="en-US" sz="22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2658536"/>
              </p:ext>
            </p:extLst>
          </p:nvPr>
        </p:nvGraphicFramePr>
        <p:xfrm>
          <a:off x="9006840" y="12487221"/>
          <a:ext cx="11064240" cy="34290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Archetype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Yds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(pass)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QBR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Rush Yds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Rush TD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1A3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🔵 Pocket Passer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7B3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🟠 Game Manager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🟢 Gunslinger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2000" b="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7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🔴 Dual Threat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7" name="Shape 62"/>
          <p:cNvSpPr/>
          <p:nvPr/>
        </p:nvSpPr>
        <p:spPr>
          <a:xfrm>
            <a:off x="9281160" y="16166592"/>
            <a:ext cx="1051560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3"/>
          <p:cNvSpPr/>
          <p:nvPr/>
        </p:nvSpPr>
        <p:spPr>
          <a:xfrm>
            <a:off x="9281160" y="1616659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4"/>
          <p:cNvSpPr/>
          <p:nvPr/>
        </p:nvSpPr>
        <p:spPr>
          <a:xfrm>
            <a:off x="9509760" y="16166592"/>
            <a:ext cx="10287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PLAYERS PER ARCHETYPE</a:t>
            </a:r>
            <a:endParaRPr lang="en-US" sz="2200" dirty="0"/>
          </a:p>
        </p:txBody>
      </p:sp>
      <p:sp>
        <p:nvSpPr>
          <p:cNvPr id="70" name="Shape 65"/>
          <p:cNvSpPr/>
          <p:nvPr/>
        </p:nvSpPr>
        <p:spPr>
          <a:xfrm>
            <a:off x="9281160" y="16943832"/>
            <a:ext cx="10515600" cy="713232"/>
          </a:xfrm>
          <a:prstGeom prst="rect">
            <a:avLst/>
          </a:prstGeom>
          <a:solidFill>
            <a:srgbClr val="EBF1FF"/>
          </a:solidFill>
          <a:ln w="12700">
            <a:solidFill>
              <a:srgbClr val="1A3A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6"/>
          <p:cNvSpPr/>
          <p:nvPr/>
        </p:nvSpPr>
        <p:spPr>
          <a:xfrm>
            <a:off x="9281160" y="16943832"/>
            <a:ext cx="128016" cy="713232"/>
          </a:xfrm>
          <a:prstGeom prst="rect">
            <a:avLst/>
          </a:prstGeom>
          <a:solidFill>
            <a:srgbClr val="1A3A8F"/>
          </a:solidFill>
          <a:ln w="12700">
            <a:solidFill>
              <a:srgbClr val="1A3A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67"/>
          <p:cNvSpPr/>
          <p:nvPr/>
        </p:nvSpPr>
        <p:spPr>
          <a:xfrm>
            <a:off x="9509760" y="16943832"/>
            <a:ext cx="10195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Pocket Passer:  </a:t>
            </a: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Patrick Mahomes (KC), Dak Prescott (DAL), Joe Burrow (CIN), Tom Brady (NE)</a:t>
            </a:r>
            <a:endParaRPr lang="en-US" sz="2000" dirty="0"/>
          </a:p>
        </p:txBody>
      </p:sp>
      <p:sp>
        <p:nvSpPr>
          <p:cNvPr id="73" name="Shape 68"/>
          <p:cNvSpPr/>
          <p:nvPr/>
        </p:nvSpPr>
        <p:spPr>
          <a:xfrm>
            <a:off x="9281160" y="17693640"/>
            <a:ext cx="10515600" cy="713232"/>
          </a:xfrm>
          <a:prstGeom prst="rect">
            <a:avLst/>
          </a:prstGeom>
          <a:solidFill>
            <a:srgbClr val="FEF3E2"/>
          </a:solidFill>
          <a:ln w="12700">
            <a:solidFill>
              <a:srgbClr val="7B3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69"/>
          <p:cNvSpPr/>
          <p:nvPr/>
        </p:nvSpPr>
        <p:spPr>
          <a:xfrm>
            <a:off x="9281160" y="17693640"/>
            <a:ext cx="128016" cy="713232"/>
          </a:xfrm>
          <a:prstGeom prst="rect">
            <a:avLst/>
          </a:prstGeom>
          <a:solidFill>
            <a:srgbClr val="7B3F00"/>
          </a:solidFill>
          <a:ln w="12700">
            <a:solidFill>
              <a:srgbClr val="7B3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0"/>
          <p:cNvSpPr/>
          <p:nvPr/>
        </p:nvSpPr>
        <p:spPr>
          <a:xfrm>
            <a:off x="9509760" y="17693640"/>
            <a:ext cx="10195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Manager:  </a:t>
            </a: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Jones (NE), Devlin Hodges (PIT) , Early Jalen Hurts (2020, PHI)</a:t>
            </a:r>
            <a:endParaRPr lang="en-US" sz="2000" dirty="0"/>
          </a:p>
        </p:txBody>
      </p:sp>
      <p:sp>
        <p:nvSpPr>
          <p:cNvPr id="76" name="Shape 71"/>
          <p:cNvSpPr/>
          <p:nvPr/>
        </p:nvSpPr>
        <p:spPr>
          <a:xfrm>
            <a:off x="9281160" y="18443448"/>
            <a:ext cx="10515600" cy="713232"/>
          </a:xfrm>
          <a:prstGeom prst="rect">
            <a:avLst/>
          </a:prstGeom>
          <a:solidFill>
            <a:srgbClr val="E8F5E9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2"/>
          <p:cNvSpPr/>
          <p:nvPr/>
        </p:nvSpPr>
        <p:spPr>
          <a:xfrm>
            <a:off x="9281160" y="18443448"/>
            <a:ext cx="128016" cy="713232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3"/>
          <p:cNvSpPr/>
          <p:nvPr/>
        </p:nvSpPr>
        <p:spPr>
          <a:xfrm>
            <a:off x="9509760" y="18443448"/>
            <a:ext cx="10195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Gunslinger:  </a:t>
            </a: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Justin Herbert (LAC), Taylor Heinicke (WAS) , Sam Howell (WAS) , Josh Johnson (DEN)</a:t>
            </a:r>
            <a:endParaRPr lang="en-US" sz="2000" dirty="0"/>
          </a:p>
        </p:txBody>
      </p:sp>
      <p:sp>
        <p:nvSpPr>
          <p:cNvPr id="79" name="Shape 74"/>
          <p:cNvSpPr/>
          <p:nvPr/>
        </p:nvSpPr>
        <p:spPr>
          <a:xfrm>
            <a:off x="9281160" y="19193256"/>
            <a:ext cx="10515600" cy="713232"/>
          </a:xfrm>
          <a:prstGeom prst="rect">
            <a:avLst/>
          </a:prstGeom>
          <a:solidFill>
            <a:srgbClr val="FFEBEE"/>
          </a:solidFill>
          <a:ln w="12700">
            <a:solidFill>
              <a:srgbClr val="7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5"/>
          <p:cNvSpPr/>
          <p:nvPr/>
        </p:nvSpPr>
        <p:spPr>
          <a:xfrm>
            <a:off x="9281160" y="19193256"/>
            <a:ext cx="128016" cy="713232"/>
          </a:xfrm>
          <a:prstGeom prst="rect">
            <a:avLst/>
          </a:prstGeom>
          <a:solidFill>
            <a:srgbClr val="7B0000"/>
          </a:solidFill>
          <a:ln w="12700">
            <a:solidFill>
              <a:srgbClr val="7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6"/>
          <p:cNvSpPr/>
          <p:nvPr/>
        </p:nvSpPr>
        <p:spPr>
          <a:xfrm>
            <a:off x="9509760" y="19193256"/>
            <a:ext cx="10195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Threat:  </a:t>
            </a: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Lamar Jackson (BAL) , Kyler Murray (ARI) , Josh Allen (BUF) , Jalen Hurts (PHI)</a:t>
            </a:r>
            <a:endParaRPr lang="en-US" sz="2000" dirty="0"/>
          </a:p>
        </p:txBody>
      </p:sp>
      <p:sp>
        <p:nvSpPr>
          <p:cNvPr id="82" name="Shape 77"/>
          <p:cNvSpPr/>
          <p:nvPr/>
        </p:nvSpPr>
        <p:spPr>
          <a:xfrm>
            <a:off x="20436840" y="3023616"/>
            <a:ext cx="1197864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78"/>
          <p:cNvSpPr/>
          <p:nvPr/>
        </p:nvSpPr>
        <p:spPr>
          <a:xfrm>
            <a:off x="20436840" y="3023616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79"/>
          <p:cNvSpPr/>
          <p:nvPr/>
        </p:nvSpPr>
        <p:spPr>
          <a:xfrm>
            <a:off x="20711160" y="2999232"/>
            <a:ext cx="1175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STATISTICAL VALIDATION</a:t>
            </a:r>
            <a:endParaRPr lang="en-US" sz="2200" dirty="0"/>
          </a:p>
        </p:txBody>
      </p:sp>
      <p:sp>
        <p:nvSpPr>
          <p:cNvPr id="85" name="Shape 80"/>
          <p:cNvSpPr/>
          <p:nvPr/>
        </p:nvSpPr>
        <p:spPr>
          <a:xfrm>
            <a:off x="20482560" y="3776472"/>
            <a:ext cx="11978640" cy="1737360"/>
          </a:xfrm>
          <a:prstGeom prst="rect">
            <a:avLst/>
          </a:prstGeom>
          <a:solidFill>
            <a:srgbClr val="EAF4EA"/>
          </a:solidFill>
          <a:ln w="25400">
            <a:solidFill>
              <a:srgbClr val="A5D6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1"/>
          <p:cNvSpPr/>
          <p:nvPr/>
        </p:nvSpPr>
        <p:spPr>
          <a:xfrm>
            <a:off x="20619720" y="3849624"/>
            <a:ext cx="11612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/ 10  </a:t>
            </a:r>
            <a:r>
              <a:rPr lang="en-US" sz="2200" dirty="0">
                <a:solidFill>
                  <a:srgbClr val="1C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metrics statistically significant</a:t>
            </a:r>
            <a:endParaRPr lang="en-US" sz="4400" dirty="0"/>
          </a:p>
          <a:p>
            <a:pPr marL="0" indent="0">
              <a:buNone/>
            </a:pPr>
            <a:r>
              <a:rPr lang="en-US" sz="2200" dirty="0">
                <a:solidFill>
                  <a:srgbClr val="1C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one-way ANOVA (all p &lt; 0.001)</a:t>
            </a:r>
            <a:endParaRPr lang="en-US" sz="4400" dirty="0"/>
          </a:p>
        </p:txBody>
      </p:sp>
      <p:sp>
        <p:nvSpPr>
          <p:cNvPr id="87" name="Text 82"/>
          <p:cNvSpPr/>
          <p:nvPr/>
        </p:nvSpPr>
        <p:spPr>
          <a:xfrm>
            <a:off x="20619720" y="4965192"/>
            <a:ext cx="11612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 at k=4: 0.208  |  Elbow + silhouette both confirmed k=4  |  Tukey HSD run on all 10 metrics</a:t>
            </a:r>
            <a:endParaRPr lang="en-US" sz="2000" dirty="0"/>
          </a:p>
        </p:txBody>
      </p:sp>
      <p:sp>
        <p:nvSpPr>
          <p:cNvPr id="90" name="Text 85"/>
          <p:cNvSpPr/>
          <p:nvPr/>
        </p:nvSpPr>
        <p:spPr>
          <a:xfrm>
            <a:off x="20711160" y="5650992"/>
            <a:ext cx="1175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TUKEY HSD POST-HOC RESULTS (QBR)</a:t>
            </a:r>
            <a:endParaRPr lang="en-US" sz="2200" dirty="0"/>
          </a:p>
        </p:txBody>
      </p:sp>
      <p:sp>
        <p:nvSpPr>
          <p:cNvPr id="92" name="Shape 86"/>
          <p:cNvSpPr/>
          <p:nvPr/>
        </p:nvSpPr>
        <p:spPr>
          <a:xfrm>
            <a:off x="20482560" y="10725912"/>
            <a:ext cx="11978640" cy="2011680"/>
          </a:xfrm>
          <a:prstGeom prst="rect">
            <a:avLst/>
          </a:prstGeom>
          <a:solidFill>
            <a:srgbClr val="FFF8E1"/>
          </a:solidFill>
          <a:ln w="25400">
            <a:solidFill>
              <a:srgbClr val="FFD5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87"/>
          <p:cNvSpPr/>
          <p:nvPr/>
        </p:nvSpPr>
        <p:spPr>
          <a:xfrm>
            <a:off x="20619720" y="10817352"/>
            <a:ext cx="1161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B5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💡  Key Finding</a:t>
            </a:r>
            <a:endParaRPr lang="en-US" sz="2200" dirty="0"/>
          </a:p>
        </p:txBody>
      </p:sp>
      <p:sp>
        <p:nvSpPr>
          <p:cNvPr id="94" name="Text 88"/>
          <p:cNvSpPr/>
          <p:nvPr/>
        </p:nvSpPr>
        <p:spPr>
          <a:xfrm>
            <a:off x="20619720" y="11292840"/>
            <a:ext cx="11612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Pocket Passers and Dual Threats show no significant difference in QBR (p = 0.9439), despite radically different playing styles, elite efficiency is achievable through passing volume or rushing dominance equally.</a:t>
            </a:r>
            <a:endParaRPr lang="en-US" sz="2300" dirty="0"/>
          </a:p>
        </p:txBody>
      </p:sp>
      <p:sp>
        <p:nvSpPr>
          <p:cNvPr id="95" name="Shape 89"/>
          <p:cNvSpPr/>
          <p:nvPr/>
        </p:nvSpPr>
        <p:spPr>
          <a:xfrm>
            <a:off x="20601432" y="12865608"/>
            <a:ext cx="1197864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0"/>
          <p:cNvSpPr/>
          <p:nvPr/>
        </p:nvSpPr>
        <p:spPr>
          <a:xfrm>
            <a:off x="20601432" y="12865608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1"/>
          <p:cNvSpPr/>
          <p:nvPr/>
        </p:nvSpPr>
        <p:spPr>
          <a:xfrm>
            <a:off x="20830032" y="12865608"/>
            <a:ext cx="1175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ARCHETYPE DISTRIBUTION</a:t>
            </a:r>
            <a:endParaRPr lang="en-US" sz="2200" dirty="0"/>
          </a:p>
        </p:txBody>
      </p:sp>
      <p:graphicFrame>
        <p:nvGraphicFramePr>
          <p:cNvPr id="98" name="Chart 0"/>
          <p:cNvGraphicFramePr/>
          <p:nvPr>
            <p:extLst>
              <p:ext uri="{D42A27DB-BD31-4B8C-83A1-F6EECF244321}">
                <p14:modId xmlns:p14="http://schemas.microsoft.com/office/powerpoint/2010/main" val="307877449"/>
              </p:ext>
            </p:extLst>
          </p:nvPr>
        </p:nvGraphicFramePr>
        <p:xfrm>
          <a:off x="20601432" y="13642848"/>
          <a:ext cx="11978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9" name="Text 92"/>
          <p:cNvSpPr/>
          <p:nvPr/>
        </p:nvSpPr>
        <p:spPr>
          <a:xfrm>
            <a:off x="20570952" y="20855866"/>
            <a:ext cx="1197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References: Celebi et al. (2013) Expert Syst. Appl. 40:200–210  •  Lutz (2012) J. Quant. Anal. Sports 8  •  Quealy &amp; Carter (2013) NYT  •  Data: Pro Football Reference (pfr.com)</a:t>
            </a:r>
            <a:endParaRPr lang="en-US" sz="1600" dirty="0"/>
          </a:p>
        </p:txBody>
      </p:sp>
      <p:pic>
        <p:nvPicPr>
          <p:cNvPr id="101" name="Picture 100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A256B1CB-1CAB-4D67-F704-C48497C3F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66280" y="18114264"/>
            <a:ext cx="2724912" cy="2724912"/>
          </a:xfrm>
          <a:prstGeom prst="rect">
            <a:avLst/>
          </a:prstGeom>
        </p:spPr>
      </p:pic>
      <p:pic>
        <p:nvPicPr>
          <p:cNvPr id="102" name="Picture 101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521B27D-88BB-230F-9928-D2B2C22693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46536" y="5571684"/>
            <a:ext cx="11650688" cy="5218236"/>
          </a:xfrm>
          <a:prstGeom prst="rect">
            <a:avLst/>
          </a:prstGeom>
        </p:spPr>
      </p:pic>
      <p:pic>
        <p:nvPicPr>
          <p:cNvPr id="104" name="Picture 103" descr="A diagram of a number of clusters&#10;&#10;AI-generated content may be incorrect.">
            <a:extLst>
              <a:ext uri="{FF2B5EF4-FFF2-40B4-BE49-F238E27FC236}">
                <a16:creationId xmlns:a16="http://schemas.microsoft.com/office/drawing/2014/main" id="{30358F56-129A-2CA0-CD70-E943061F04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7662" y="3794760"/>
            <a:ext cx="9662595" cy="6857612"/>
          </a:xfrm>
          <a:prstGeom prst="rect">
            <a:avLst/>
          </a:prstGeom>
        </p:spPr>
      </p:pic>
      <p:sp>
        <p:nvSpPr>
          <p:cNvPr id="107" name="Shape 77">
            <a:extLst>
              <a:ext uri="{FF2B5EF4-FFF2-40B4-BE49-F238E27FC236}">
                <a16:creationId xmlns:a16="http://schemas.microsoft.com/office/drawing/2014/main" id="{4E7C0029-F861-1FB6-B4EB-ADD196C74034}"/>
              </a:ext>
            </a:extLst>
          </p:cNvPr>
          <p:cNvSpPr/>
          <p:nvPr/>
        </p:nvSpPr>
        <p:spPr>
          <a:xfrm>
            <a:off x="20711160" y="17300448"/>
            <a:ext cx="1197864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r>
              <a:rPr lang="en-US" sz="2200" b="1" dirty="0">
                <a:solidFill>
                  <a:schemeClr val="bg1"/>
                </a:solidFill>
                <a:latin typeface="Trebuchet MS" panose="020B0703020202090204" pitchFamily="34" charset="0"/>
              </a:rPr>
              <a:t>CODE AND REPRODUCIBILITY</a:t>
            </a:r>
          </a:p>
        </p:txBody>
      </p:sp>
      <p:sp>
        <p:nvSpPr>
          <p:cNvPr id="108" name="Shape 78">
            <a:extLst>
              <a:ext uri="{FF2B5EF4-FFF2-40B4-BE49-F238E27FC236}">
                <a16:creationId xmlns:a16="http://schemas.microsoft.com/office/drawing/2014/main" id="{8546B00F-F9A4-3194-CF84-E3290EFA5902}"/>
              </a:ext>
            </a:extLst>
          </p:cNvPr>
          <p:cNvSpPr/>
          <p:nvPr/>
        </p:nvSpPr>
        <p:spPr>
          <a:xfrm>
            <a:off x="20564856" y="17314164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362</TotalTime>
  <Words>593</Words>
  <Application>Microsoft Macintosh PowerPoint</Application>
  <PresentationFormat>Custom</PresentationFormat>
  <Paragraphs>86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Trebuchet MS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Shubhan N. Tamhane</cp:lastModifiedBy>
  <cp:revision>4</cp:revision>
  <dcterms:created xsi:type="dcterms:W3CDTF">2026-03-06T19:02:32Z</dcterms:created>
  <dcterms:modified xsi:type="dcterms:W3CDTF">2026-03-10T19:53:04Z</dcterms:modified>
</cp:coreProperties>
</file>