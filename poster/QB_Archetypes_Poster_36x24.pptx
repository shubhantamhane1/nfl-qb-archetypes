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918400" cy="21945600"/>
  <p:notesSz cx="219456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F4E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Pocket Passer</c:v>
                  </c:pt>
                  <c:pt idx="1">
                    <c:v>Game Manager</c:v>
                  </c:pt>
                  <c:pt idx="2">
                    <c:v>Gunslinger</c:v>
                  </c:pt>
                  <c:pt idx="3">
                    <c:v>Dual Threat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</c:v>
                </c:pt>
                <c:pt idx="1">
                  <c:v>48</c:v>
                </c:pt>
                <c:pt idx="2">
                  <c:v>47</c:v>
                </c:pt>
                <c:pt idx="3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2468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468880"/>
            <a:ext cx="32918400" cy="137160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"/>
            <a:ext cx="2468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Identifying NFL Quarterback Archetypes via K-Means Clustering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2468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F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Shubhan Tamhane  </a:t>
            </a:r>
            <a:pPr algn="l" indent="0" marL="0">
              <a:buNone/>
            </a:pPr>
            <a:r>
              <a:rPr lang="en-US" sz="2600" dirty="0">
                <a:solidFill>
                  <a:srgbClr val="BF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Undergraduate Data Science Student  |  University of Connecticut  |  Spring 2026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889200" y="182880"/>
            <a:ext cx="4572000" cy="2011680"/>
          </a:xfrm>
          <a:prstGeom prst="rect">
            <a:avLst/>
          </a:prstGeom>
          <a:solidFill>
            <a:srgbClr val="002868"/>
          </a:solidFill>
          <a:ln w="50800">
            <a:solidFill>
              <a:srgbClr val="F4A6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0" y="1828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6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UCONN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4A6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SCIENCE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28600" y="2743200"/>
            <a:ext cx="8595360" cy="18928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8D6E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52560" y="2743200"/>
            <a:ext cx="10972800" cy="18928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8D6E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253960" y="2743200"/>
            <a:ext cx="12435840" cy="18928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8D6E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999232"/>
            <a:ext cx="813816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99232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99232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3776472"/>
            <a:ext cx="7955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QB metrics like passer rating collapse multidimensional playing styles into a single value. This study asks: Can K-means clustering identify distinct, interpretable archetypes from NFL performance data — without imposing labels a priori?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5696712"/>
            <a:ext cx="813816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5696712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696712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48640" y="6473952"/>
            <a:ext cx="2560320" cy="1463040"/>
          </a:xfrm>
          <a:prstGeom prst="rect">
            <a:avLst/>
          </a:prstGeom>
          <a:solidFill>
            <a:srgbClr val="EBF3FB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5653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204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548640" y="7388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QB-Seasons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291840" y="6473952"/>
            <a:ext cx="2560320" cy="1463040"/>
          </a:xfrm>
          <a:prstGeom prst="rect">
            <a:avLst/>
          </a:prstGeom>
          <a:solidFill>
            <a:srgbClr val="EBF3FB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65653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2019–24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3291840" y="7388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NFL Seasons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035040" y="6473952"/>
            <a:ext cx="2560320" cy="1463040"/>
          </a:xfrm>
          <a:prstGeom prst="rect">
            <a:avLst/>
          </a:prstGeom>
          <a:solidFill>
            <a:srgbClr val="EBF3FB"/>
          </a:solidFill>
          <a:ln w="12700">
            <a:solidFill>
              <a:srgbClr val="C8D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656539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≥100/20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035040" y="7388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Pass/Rush Att.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48640" y="8074152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 Football Reference. Merged passing &amp; rushing season stats; mid-season trades handled via totals rows. Missing QBR imputed with mean; longest rush with median.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7200" y="9445752"/>
            <a:ext cx="813816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9445752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9445752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METHODS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548640" y="10287000"/>
            <a:ext cx="502920" cy="5029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10287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43000" y="1022299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</a:t>
            </a:r>
            <a:pPr indent="0" marL="0">
              <a:buNone/>
            </a:pPr>
            <a:r>
              <a:rPr lang="en-US" sz="1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passing + rushing metrics; non-numeric identifiers dropped.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548640" y="10981944"/>
            <a:ext cx="502920" cy="5029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10981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43000" y="10917936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 </a:t>
            </a:r>
            <a:pPr indent="0" marL="0">
              <a:buNone/>
            </a:pPr>
            <a:r>
              <a:rPr lang="en-US" sz="1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scaling via StandardScaler to equalize feature magnitudes.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548640" y="11676888"/>
            <a:ext cx="502920" cy="5029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11676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43000" y="1161288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 </a:t>
            </a:r>
            <a:pPr indent="0" marL="0">
              <a:buNone/>
            </a:pPr>
            <a:r>
              <a:rPr lang="en-US" sz="1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for visualization &amp; dimensionality reduction (~90% variance at 10 PCs).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548640" y="12371832"/>
            <a:ext cx="502920" cy="5029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12371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43000" y="12307824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 </a:t>
            </a:r>
            <a:pPr indent="0" marL="0">
              <a:buNone/>
            </a:pPr>
            <a:r>
              <a:rPr lang="en-US" sz="1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k-means++ init; k=2–10 evaluated via elbow + silhouette. k=4 selected.</a:t>
            </a:r>
            <a:endParaRPr lang="en-US" sz="1900" dirty="0"/>
          </a:p>
        </p:txBody>
      </p:sp>
      <p:sp>
        <p:nvSpPr>
          <p:cNvPr id="43" name="Shape 41"/>
          <p:cNvSpPr/>
          <p:nvPr/>
        </p:nvSpPr>
        <p:spPr>
          <a:xfrm>
            <a:off x="548640" y="13066776"/>
            <a:ext cx="502920" cy="5029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13066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143000" y="13002768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</a:t>
            </a:r>
            <a:pPr indent="0" marL="0">
              <a:buNone/>
            </a:pPr>
            <a:r>
              <a:rPr lang="en-US" sz="1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+ Tukey HSD post-hoc tests across all key metrics.</a:t>
            </a:r>
            <a:endParaRPr lang="en-US" sz="1900" dirty="0"/>
          </a:p>
        </p:txBody>
      </p:sp>
      <p:sp>
        <p:nvSpPr>
          <p:cNvPr id="46" name="Shape 44"/>
          <p:cNvSpPr/>
          <p:nvPr/>
        </p:nvSpPr>
        <p:spPr>
          <a:xfrm>
            <a:off x="457200" y="13926312"/>
            <a:ext cx="813816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13926312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13926312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548640" y="14703552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ANOVA tests significant (p &lt; 0.001) — clusters are statistically real.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548640" y="15416784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Passers and Dual Threats have similar QBR — efficiency achieved via different styles.</a:t>
            </a:r>
            <a:endParaRPr lang="en-US" sz="1900" dirty="0"/>
          </a:p>
        </p:txBody>
      </p:sp>
      <p:sp>
        <p:nvSpPr>
          <p:cNvPr id="51" name="Text 49"/>
          <p:cNvSpPr/>
          <p:nvPr/>
        </p:nvSpPr>
        <p:spPr>
          <a:xfrm>
            <a:off x="548640" y="16130016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Archetypes exist on a continuum; moderate boundary overlap is expected.</a:t>
            </a:r>
            <a:endParaRPr lang="en-US" sz="1900" dirty="0"/>
          </a:p>
        </p:txBody>
      </p:sp>
      <p:sp>
        <p:nvSpPr>
          <p:cNvPr id="52" name="Text 50"/>
          <p:cNvSpPr/>
          <p:nvPr/>
        </p:nvSpPr>
        <p:spPr>
          <a:xfrm>
            <a:off x="548640" y="16843248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9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within-career style evolution; GMMs for soft cluster membership.</a:t>
            </a:r>
            <a:endParaRPr lang="en-US" sz="1900" dirty="0"/>
          </a:p>
        </p:txBody>
      </p:sp>
      <p:sp>
        <p:nvSpPr>
          <p:cNvPr id="53" name="Shape 51"/>
          <p:cNvSpPr/>
          <p:nvPr/>
        </p:nvSpPr>
        <p:spPr>
          <a:xfrm>
            <a:off x="457200" y="17830800"/>
            <a:ext cx="813816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17830800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17830800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&amp; REPRODUCIBILITY</a:t>
            </a:r>
            <a:endParaRPr lang="en-US" sz="2200" dirty="0"/>
          </a:p>
        </p:txBody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608040"/>
            <a:ext cx="2286000" cy="2286000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3063240" y="1860804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
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github.com/ShubhanTamhane1/
nfl-qb-archetypes
</a:t>
            </a:r>
            <a:endParaRPr lang="en-US" sz="2000" dirty="0"/>
          </a:p>
          <a:p>
            <a:pPr indent="0" marL="0">
              <a:buNone/>
            </a:pPr>
            <a:r>
              <a:rPr lang="en-US" sz="16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source code, notebook, and data pipeline.</a:t>
            </a:r>
            <a:endParaRPr lang="en-US" sz="2000" dirty="0"/>
          </a:p>
        </p:txBody>
      </p:sp>
      <p:sp>
        <p:nvSpPr>
          <p:cNvPr id="58" name="Shape 55"/>
          <p:cNvSpPr/>
          <p:nvPr/>
        </p:nvSpPr>
        <p:spPr>
          <a:xfrm>
            <a:off x="9281160" y="2999232"/>
            <a:ext cx="105156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9281160" y="2999232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509760" y="2999232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— QB CLUSTERS IN PCA SPACE</a:t>
            </a:r>
            <a:endParaRPr lang="en-US" sz="2200" dirty="0"/>
          </a:p>
        </p:txBody>
      </p:sp>
      <p:pic>
        <p:nvPicPr>
          <p:cNvPr id="6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81160" y="3776472"/>
            <a:ext cx="10515600" cy="6583680"/>
          </a:xfrm>
          <a:prstGeom prst="rect">
            <a:avLst/>
          </a:prstGeom>
        </p:spPr>
      </p:pic>
      <p:sp>
        <p:nvSpPr>
          <p:cNvPr id="62" name="Text 58"/>
          <p:cNvSpPr/>
          <p:nvPr/>
        </p:nvSpPr>
        <p:spPr>
          <a:xfrm>
            <a:off x="9281160" y="10497312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(38.0% variance) separates high-volume passers from limited starters. PC2 (17.2% variance) isolates rushing-dominant players. Dual Threat QBs form a visually distinct cluster at high PC2 values.</a:t>
            </a:r>
            <a:endParaRPr lang="en-US" sz="1900" dirty="0"/>
          </a:p>
        </p:txBody>
      </p:sp>
      <p:sp>
        <p:nvSpPr>
          <p:cNvPr id="63" name="Shape 59"/>
          <p:cNvSpPr/>
          <p:nvPr/>
        </p:nvSpPr>
        <p:spPr>
          <a:xfrm>
            <a:off x="9281160" y="11640312"/>
            <a:ext cx="105156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9281160" y="11640312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9509760" y="11640312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MEANS (KEY METRICS)</a:t>
            </a:r>
            <a:endParaRPr lang="en-US" sz="2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81160" y="12417552"/>
          <a:ext cx="10515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17320"/>
                <a:gridCol w="1508760"/>
                <a:gridCol w="1143000"/>
                <a:gridCol w="1234440"/>
                <a:gridCol w="1417320"/>
                <a:gridCol w="1234440"/>
                <a:gridCol w="82296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Archetype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Yds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 (pass)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QBR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Rush Yds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Rush TD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A3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🔵 Pocket Passer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4,102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5A6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7B3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Game Manager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5A6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Gunslinger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2,903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5A6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7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Dual Threat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5A6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7" name="Shape 62"/>
          <p:cNvSpPr/>
          <p:nvPr/>
        </p:nvSpPr>
        <p:spPr>
          <a:xfrm>
            <a:off x="9281160" y="16166592"/>
            <a:ext cx="105156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9281160" y="16166592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9509760" y="16166592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PLAYERS PER ARCHETYPE</a:t>
            </a:r>
            <a:endParaRPr lang="en-US" sz="2200" dirty="0"/>
          </a:p>
        </p:txBody>
      </p:sp>
      <p:sp>
        <p:nvSpPr>
          <p:cNvPr id="70" name="Shape 65"/>
          <p:cNvSpPr/>
          <p:nvPr/>
        </p:nvSpPr>
        <p:spPr>
          <a:xfrm>
            <a:off x="9281160" y="16943832"/>
            <a:ext cx="10515600" cy="713232"/>
          </a:xfrm>
          <a:prstGeom prst="rect">
            <a:avLst/>
          </a:prstGeom>
          <a:solidFill>
            <a:srgbClr val="EBF1F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9281160" y="16943832"/>
            <a:ext cx="128016" cy="713232"/>
          </a:xfrm>
          <a:prstGeom prst="rect">
            <a:avLst/>
          </a:prstGeom>
          <a:solidFill>
            <a:srgbClr val="1A3A8F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72" name="Text 67"/>
          <p:cNvSpPr/>
          <p:nvPr/>
        </p:nvSpPr>
        <p:spPr>
          <a:xfrm>
            <a:off x="9509760" y="16943832"/>
            <a:ext cx="10195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Passer: 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Patrick Mahomes, Dak Prescott, Joe Burrow, Tom Brady, Aaron Rodgers</a:t>
            </a:r>
            <a:endParaRPr lang="en-US" sz="2000" dirty="0"/>
          </a:p>
        </p:txBody>
      </p:sp>
      <p:sp>
        <p:nvSpPr>
          <p:cNvPr id="73" name="Shape 68"/>
          <p:cNvSpPr/>
          <p:nvPr/>
        </p:nvSpPr>
        <p:spPr>
          <a:xfrm>
            <a:off x="9281160" y="17693640"/>
            <a:ext cx="10515600" cy="713232"/>
          </a:xfrm>
          <a:prstGeom prst="rect">
            <a:avLst/>
          </a:prstGeom>
          <a:solidFill>
            <a:srgbClr val="FEF3E2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9281160" y="17693640"/>
            <a:ext cx="128016" cy="713232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9509760" y="17693640"/>
            <a:ext cx="10195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Manager: 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Jones, Devlin Hodges, Early Jalen Hurts (2020)</a:t>
            </a:r>
            <a:endParaRPr lang="en-US" sz="2000" dirty="0"/>
          </a:p>
        </p:txBody>
      </p:sp>
      <p:sp>
        <p:nvSpPr>
          <p:cNvPr id="76" name="Shape 71"/>
          <p:cNvSpPr/>
          <p:nvPr/>
        </p:nvSpPr>
        <p:spPr>
          <a:xfrm>
            <a:off x="9281160" y="18443448"/>
            <a:ext cx="1051560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9281160" y="18443448"/>
            <a:ext cx="128016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8" name="Text 73"/>
          <p:cNvSpPr/>
          <p:nvPr/>
        </p:nvSpPr>
        <p:spPr>
          <a:xfrm>
            <a:off x="9509760" y="18443448"/>
            <a:ext cx="10195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Gunslinger: 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Herbert, Taylor Heinicke, Sam Howell, Josh Johnson</a:t>
            </a:r>
            <a:endParaRPr lang="en-US" sz="2000" dirty="0"/>
          </a:p>
        </p:txBody>
      </p:sp>
      <p:sp>
        <p:nvSpPr>
          <p:cNvPr id="79" name="Shape 74"/>
          <p:cNvSpPr/>
          <p:nvPr/>
        </p:nvSpPr>
        <p:spPr>
          <a:xfrm>
            <a:off x="9281160" y="19193256"/>
            <a:ext cx="10515600" cy="713232"/>
          </a:xfrm>
          <a:prstGeom prst="rect">
            <a:avLst/>
          </a:prstGeom>
          <a:solidFill>
            <a:srgbClr val="FFEBEE"/>
          </a:solidFill>
          <a:ln w="12700">
            <a:solidFill>
              <a:srgbClr val="7B0000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9281160" y="19193256"/>
            <a:ext cx="128016" cy="713232"/>
          </a:xfrm>
          <a:prstGeom prst="rect">
            <a:avLst/>
          </a:prstGeom>
          <a:solidFill>
            <a:srgbClr val="7B0000"/>
          </a:solidFill>
          <a:ln w="12700">
            <a:solidFill>
              <a:srgbClr val="7B0000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9509760" y="19193256"/>
            <a:ext cx="10195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Threat:  </a:t>
            </a:r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Lamar Jackson, Kyler Murray, Josh Allen, Jalen Hurts</a:t>
            </a:r>
            <a:endParaRPr lang="en-US" sz="2000" dirty="0"/>
          </a:p>
        </p:txBody>
      </p:sp>
      <p:sp>
        <p:nvSpPr>
          <p:cNvPr id="82" name="Shape 77"/>
          <p:cNvSpPr/>
          <p:nvPr/>
        </p:nvSpPr>
        <p:spPr>
          <a:xfrm>
            <a:off x="20482560" y="2999232"/>
            <a:ext cx="1197864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20482560" y="2999232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84" name="Text 79"/>
          <p:cNvSpPr/>
          <p:nvPr/>
        </p:nvSpPr>
        <p:spPr>
          <a:xfrm>
            <a:off x="20711160" y="2999232"/>
            <a:ext cx="1175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VALIDATION</a:t>
            </a:r>
            <a:endParaRPr lang="en-US" sz="2200" dirty="0"/>
          </a:p>
        </p:txBody>
      </p:sp>
      <p:sp>
        <p:nvSpPr>
          <p:cNvPr id="85" name="Shape 80"/>
          <p:cNvSpPr/>
          <p:nvPr/>
        </p:nvSpPr>
        <p:spPr>
          <a:xfrm>
            <a:off x="20482560" y="3776472"/>
            <a:ext cx="11978640" cy="1737360"/>
          </a:xfrm>
          <a:prstGeom prst="rect">
            <a:avLst/>
          </a:prstGeom>
          <a:solidFill>
            <a:srgbClr val="EAF4EA"/>
          </a:solidFill>
          <a:ln w="25400">
            <a:solidFill>
              <a:srgbClr val="A5D6A7"/>
            </a:solidFill>
            <a:prstDash val="solid"/>
          </a:ln>
        </p:spPr>
      </p:sp>
      <p:sp>
        <p:nvSpPr>
          <p:cNvPr id="86" name="Text 81"/>
          <p:cNvSpPr/>
          <p:nvPr/>
        </p:nvSpPr>
        <p:spPr>
          <a:xfrm>
            <a:off x="20619720" y="3849624"/>
            <a:ext cx="11612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/ 10  </a:t>
            </a:r>
            <a:pPr indent="0" marL="0">
              <a:buNone/>
            </a:pPr>
            <a:r>
              <a:rPr lang="en-US" sz="22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statistically significant</a:t>
            </a:r>
            <a:endParaRPr lang="en-US" sz="4400" dirty="0"/>
          </a:p>
          <a:p>
            <a:pPr indent="0" marL="0">
              <a:buNone/>
            </a:pPr>
            <a:r>
              <a:rPr lang="en-US" sz="2200" dirty="0">
                <a:solidFill>
                  <a:srgbClr val="1C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one-way ANOVA (all p &lt; 0.001)</a:t>
            </a:r>
            <a:endParaRPr lang="en-US" sz="4400" dirty="0"/>
          </a:p>
        </p:txBody>
      </p:sp>
      <p:sp>
        <p:nvSpPr>
          <p:cNvPr id="87" name="Text 82"/>
          <p:cNvSpPr/>
          <p:nvPr/>
        </p:nvSpPr>
        <p:spPr>
          <a:xfrm>
            <a:off x="20619720" y="4965192"/>
            <a:ext cx="11612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at k=4: 0.208  |  Elbow + silhouette both confirmed k=4  |  Tukey HSD run on all 10 metrics</a:t>
            </a:r>
            <a:endParaRPr lang="en-US" sz="1700" dirty="0"/>
          </a:p>
        </p:txBody>
      </p:sp>
      <p:sp>
        <p:nvSpPr>
          <p:cNvPr id="88" name="Shape 83"/>
          <p:cNvSpPr/>
          <p:nvPr/>
        </p:nvSpPr>
        <p:spPr>
          <a:xfrm>
            <a:off x="20482560" y="5650992"/>
            <a:ext cx="1197864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20482560" y="5650992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90" name="Text 85"/>
          <p:cNvSpPr/>
          <p:nvPr/>
        </p:nvSpPr>
        <p:spPr>
          <a:xfrm>
            <a:off x="20711160" y="5650992"/>
            <a:ext cx="1175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TUKEY HSD POST-HOC RESULTS (QBR)</a:t>
            </a:r>
            <a:endParaRPr lang="en-US" sz="22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482560" y="6428232"/>
          <a:ext cx="119786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1920240"/>
                <a:gridCol w="128016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Pocket Passer vs. Game Manager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Pocket Passer vs. Gunslinger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Pocket Passer vs. Dual Threat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5A6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5A6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 Manager vs. Dual Threat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Gunslinger vs. Dual Threat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  <p:sp>
        <p:nvSpPr>
          <p:cNvPr id="92" name="Shape 86"/>
          <p:cNvSpPr/>
          <p:nvPr/>
        </p:nvSpPr>
        <p:spPr>
          <a:xfrm>
            <a:off x="20482560" y="10725912"/>
            <a:ext cx="11978640" cy="2011680"/>
          </a:xfrm>
          <a:prstGeom prst="rect">
            <a:avLst/>
          </a:prstGeom>
          <a:solidFill>
            <a:srgbClr val="FFF8E1"/>
          </a:solidFill>
          <a:ln w="25400">
            <a:solidFill>
              <a:srgbClr val="FFD54F"/>
            </a:solidFill>
            <a:prstDash val="solid"/>
          </a:ln>
        </p:spPr>
      </p:sp>
      <p:sp>
        <p:nvSpPr>
          <p:cNvPr id="93" name="Text 87"/>
          <p:cNvSpPr/>
          <p:nvPr/>
        </p:nvSpPr>
        <p:spPr>
          <a:xfrm>
            <a:off x="20619720" y="10817352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5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Key Finding</a:t>
            </a:r>
            <a:endParaRPr lang="en-US" sz="2200" dirty="0"/>
          </a:p>
        </p:txBody>
      </p:sp>
      <p:sp>
        <p:nvSpPr>
          <p:cNvPr id="94" name="Text 88"/>
          <p:cNvSpPr/>
          <p:nvPr/>
        </p:nvSpPr>
        <p:spPr>
          <a:xfrm>
            <a:off x="20619720" y="11292840"/>
            <a:ext cx="11612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Passers and Dual Threats show no significant difference in QBR (p = 0.9439), despite radically different playing styles — elite efficiency is achievable through passing volume or rushing dominance equally.</a:t>
            </a:r>
            <a:endParaRPr lang="en-US" sz="2000" dirty="0"/>
          </a:p>
        </p:txBody>
      </p:sp>
      <p:sp>
        <p:nvSpPr>
          <p:cNvPr id="95" name="Shape 89"/>
          <p:cNvSpPr/>
          <p:nvPr/>
        </p:nvSpPr>
        <p:spPr>
          <a:xfrm>
            <a:off x="20482560" y="12920472"/>
            <a:ext cx="1197864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6" name="Shape 90"/>
          <p:cNvSpPr/>
          <p:nvPr/>
        </p:nvSpPr>
        <p:spPr>
          <a:xfrm>
            <a:off x="20482560" y="12920472"/>
            <a:ext cx="128016" cy="658368"/>
          </a:xfrm>
          <a:prstGeom prst="rect">
            <a:avLst/>
          </a:prstGeom>
          <a:solidFill>
            <a:srgbClr val="F4A620"/>
          </a:solidFill>
          <a:ln w="12700">
            <a:solidFill>
              <a:srgbClr val="F4A620"/>
            </a:solidFill>
            <a:prstDash val="solid"/>
          </a:ln>
        </p:spPr>
      </p:sp>
      <p:sp>
        <p:nvSpPr>
          <p:cNvPr id="97" name="Text 91"/>
          <p:cNvSpPr/>
          <p:nvPr/>
        </p:nvSpPr>
        <p:spPr>
          <a:xfrm>
            <a:off x="20711160" y="12920472"/>
            <a:ext cx="1175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ARCHETYPE DISTRIBUTION</a:t>
            </a:r>
            <a:endParaRPr lang="en-US" sz="2200" dirty="0"/>
          </a:p>
        </p:txBody>
      </p:sp>
      <p:graphicFrame>
        <p:nvGraphicFramePr>
          <p:cNvPr id="98" name="Chart 0" descr=""/>
          <p:cNvGraphicFramePr/>
          <p:nvPr/>
        </p:nvGraphicFramePr>
        <p:xfrm>
          <a:off x="20482560" y="13697712"/>
          <a:ext cx="11978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9" name="Text 92"/>
          <p:cNvSpPr/>
          <p:nvPr/>
        </p:nvSpPr>
        <p:spPr>
          <a:xfrm>
            <a:off x="20482560" y="17035272"/>
            <a:ext cx="1197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Celebi et al. (2013) Expert Syst. Appl. 40:200–210  •  Lutz (2012) J. Quant. Anal. Sports 8  •  Quealy &amp; Carter (2013) NYT  •  Data: Pro Football Reference (pfr.com)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2026-03-06T19:02:32Z</dcterms:created>
  <dcterms:modified xsi:type="dcterms:W3CDTF">2026-03-06T19:02:32Z</dcterms:modified>
</cp:coreProperties>
</file>