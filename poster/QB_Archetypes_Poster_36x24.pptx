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32918400" cy="21945600"/>
  <p:notesSz cx="21945600" cy="32918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1" d="100"/>
          <a:sy n="51" d="100"/>
        </p:scale>
        <p:origin x="-9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1F4E96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06B1-7F4B-B0D9-15C3C3913BA0}"/>
              </c:ext>
            </c:extLst>
          </c:dPt>
          <c:dPt>
            <c:idx val="1"/>
            <c:invertIfNegative val="0"/>
            <c:bubble3D val="0"/>
            <c:spPr>
              <a:solidFill>
                <a:srgbClr val="E67E2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6B1-7F4B-B0D9-15C3C3913BA0}"/>
              </c:ext>
            </c:extLst>
          </c:dPt>
          <c:dPt>
            <c:idx val="2"/>
            <c:invertIfNegative val="0"/>
            <c:bubble3D val="0"/>
            <c:spPr>
              <a:solidFill>
                <a:srgbClr val="27AE6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6B1-7F4B-B0D9-15C3C3913BA0}"/>
              </c:ext>
            </c:extLst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6B1-7F4B-B0D9-15C3C3913BA0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2000" b="0" i="0" u="none" strike="noStrike">
                    <a:solidFill>
                      <a:srgbClr val="1C1C1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Pocket Passer</c:v>
                </c:pt>
                <c:pt idx="1">
                  <c:v>Game Manager</c:v>
                </c:pt>
                <c:pt idx="2">
                  <c:v>Gunslinger</c:v>
                </c:pt>
                <c:pt idx="3">
                  <c:v>Dual Threat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48</c:v>
                </c:pt>
                <c:pt idx="2">
                  <c:v>47</c:v>
                </c:pt>
                <c:pt idx="3">
                  <c:v>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6B1-7F4B-B0D9-15C3C3913BA0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800" b="0" i="0" u="none" strike="noStrike">
                <a:solidFill>
                  <a:srgbClr val="5A6A7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5A6A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8FA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427302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0" cy="24688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2468880"/>
            <a:ext cx="32918400" cy="137160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37160"/>
            <a:ext cx="24688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Identifying NFL Quarterback Archetypes via K-Means Clustering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2468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F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Shubhan Tamhane  </a:t>
            </a:r>
            <a:r>
              <a:rPr lang="en-US" sz="2600" dirty="0">
                <a:solidFill>
                  <a:srgbClr val="BFD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| Undergraduate Data Science Student  |  University of Connecticut  |  Spring 2026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27889200" y="182880"/>
            <a:ext cx="4572000" cy="2011680"/>
          </a:xfrm>
          <a:prstGeom prst="rect">
            <a:avLst/>
          </a:prstGeom>
          <a:solidFill>
            <a:srgbClr val="002868"/>
          </a:solidFill>
          <a:ln w="508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889200" y="18288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4A6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UCONN</a:t>
            </a:r>
            <a:endParaRPr lang="en-US" sz="2600" dirty="0"/>
          </a:p>
          <a:p>
            <a:pPr marL="0" indent="0" algn="ctr">
              <a:buNone/>
            </a:pPr>
            <a:r>
              <a:rPr lang="en-US" sz="2600" b="1" dirty="0">
                <a:solidFill>
                  <a:srgbClr val="F4A6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 SCIENCE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28600" y="2743200"/>
            <a:ext cx="859536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9052560" y="2743200"/>
            <a:ext cx="1097280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0253960" y="2743200"/>
            <a:ext cx="12435840" cy="18928080"/>
          </a:xfrm>
          <a:prstGeom prst="rect">
            <a:avLst/>
          </a:prstGeom>
          <a:solidFill>
            <a:srgbClr val="FFFFFF"/>
          </a:solidFill>
          <a:ln w="25400">
            <a:solidFill>
              <a:srgbClr val="C8D6E5"/>
            </a:solidFill>
            <a:prstDash val="solid"/>
          </a:ln>
          <a:effectLst>
            <a:outerShdw blurRad="1270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57200" y="299923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457200" y="299923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5800" y="299923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INTRODUCTION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8640" y="3776472"/>
            <a:ext cx="79552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Conventional QB metrics like passer rating collapse multidimensional playing styles into a single value. This study asks: Can K-means clustering identify distinct, interpretable archetypes from NFL performance?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457200" y="569671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57200" y="569671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85800" y="569671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DATA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5486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204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5486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QB-Seasons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2918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2918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2019–24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32918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NFL Seasons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6035040" y="6473952"/>
            <a:ext cx="2560320" cy="1463040"/>
          </a:xfrm>
          <a:prstGeom prst="rect">
            <a:avLst/>
          </a:prstGeom>
          <a:solidFill>
            <a:srgbClr val="EBF3FB"/>
          </a:solidFill>
          <a:ln w="12700">
            <a:solidFill>
              <a:srgbClr val="C8D6E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035040" y="6565392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1A3A5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≥100/20</a:t>
            </a:r>
            <a:endParaRPr lang="en-US" sz="3400" dirty="0"/>
          </a:p>
        </p:txBody>
      </p:sp>
      <p:sp>
        <p:nvSpPr>
          <p:cNvPr id="26" name="Text 24"/>
          <p:cNvSpPr/>
          <p:nvPr/>
        </p:nvSpPr>
        <p:spPr>
          <a:xfrm>
            <a:off x="6035040" y="738835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Pass/Rush Att.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548640" y="8074152"/>
            <a:ext cx="7955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Pro Football Reference. Merged passing &amp; rushing season stats; mid-season trades handled via totals rows. Missing QBR imputed with mean; longest rush with median.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457200" y="944575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457200" y="944575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685800" y="944575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METHODS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548640" y="10287000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48640" y="10287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1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143000" y="10222992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passing + rushing metrics; non-numeric identifiers dropped.</a:t>
            </a:r>
            <a:endParaRPr lang="en-US" sz="1900" dirty="0"/>
          </a:p>
        </p:txBody>
      </p:sp>
      <p:sp>
        <p:nvSpPr>
          <p:cNvPr id="34" name="Shape 32"/>
          <p:cNvSpPr/>
          <p:nvPr/>
        </p:nvSpPr>
        <p:spPr>
          <a:xfrm>
            <a:off x="548640" y="10981944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1098194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1143000" y="10917936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Standardization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scaling via StandardScaler to equalize feature magnitudes.</a:t>
            </a:r>
            <a:endParaRPr lang="en-US" sz="1900" dirty="0"/>
          </a:p>
        </p:txBody>
      </p:sp>
      <p:sp>
        <p:nvSpPr>
          <p:cNvPr id="37" name="Shape 35"/>
          <p:cNvSpPr/>
          <p:nvPr/>
        </p:nvSpPr>
        <p:spPr>
          <a:xfrm>
            <a:off x="548640" y="11676888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48640" y="116768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3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1143000" y="11612880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for visualization &amp; dimensionality reduction (~90% variance at 10 PCs).</a:t>
            </a:r>
            <a:endParaRPr lang="en-US" sz="1900" dirty="0"/>
          </a:p>
        </p:txBody>
      </p:sp>
      <p:sp>
        <p:nvSpPr>
          <p:cNvPr id="40" name="Shape 38"/>
          <p:cNvSpPr/>
          <p:nvPr/>
        </p:nvSpPr>
        <p:spPr>
          <a:xfrm>
            <a:off x="548640" y="12371832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548640" y="123718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4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143000" y="12307824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Clustering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k-means++ init; k=2–10 evaluated via elbow + silhouette. k=4 selected.</a:t>
            </a:r>
            <a:endParaRPr lang="en-US" sz="1900" dirty="0"/>
          </a:p>
        </p:txBody>
      </p:sp>
      <p:sp>
        <p:nvSpPr>
          <p:cNvPr id="43" name="Shape 41"/>
          <p:cNvSpPr/>
          <p:nvPr/>
        </p:nvSpPr>
        <p:spPr>
          <a:xfrm>
            <a:off x="548640" y="13066776"/>
            <a:ext cx="502920" cy="502920"/>
          </a:xfrm>
          <a:prstGeom prst="ellipse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48640" y="1306677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</a:rPr>
              <a:t>5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1143000" y="13002768"/>
            <a:ext cx="73152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One-way ANOVA + Tukey HSD post-hoc tests across all key metrics.</a:t>
            </a:r>
            <a:endParaRPr lang="en-US" sz="1900" dirty="0"/>
          </a:p>
        </p:txBody>
      </p:sp>
      <p:sp>
        <p:nvSpPr>
          <p:cNvPr id="46" name="Shape 44"/>
          <p:cNvSpPr/>
          <p:nvPr/>
        </p:nvSpPr>
        <p:spPr>
          <a:xfrm>
            <a:off x="457200" y="13926312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57200" y="1392631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685800" y="13926312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CONCLUSIONS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548640" y="14703552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ANOVA tests significant (p &lt; 0.001) — clusters are statistically real.</a:t>
            </a:r>
            <a:endParaRPr lang="en-US" sz="1900" dirty="0"/>
          </a:p>
        </p:txBody>
      </p:sp>
      <p:sp>
        <p:nvSpPr>
          <p:cNvPr id="50" name="Text 48"/>
          <p:cNvSpPr/>
          <p:nvPr/>
        </p:nvSpPr>
        <p:spPr>
          <a:xfrm>
            <a:off x="548640" y="15416784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Passers and Dual Threats have similar QBR, efficiency achieved via different styles.</a:t>
            </a:r>
            <a:endParaRPr lang="en-US" sz="1900" dirty="0"/>
          </a:p>
        </p:txBody>
      </p:sp>
      <p:sp>
        <p:nvSpPr>
          <p:cNvPr id="51" name="Text 49"/>
          <p:cNvSpPr/>
          <p:nvPr/>
        </p:nvSpPr>
        <p:spPr>
          <a:xfrm>
            <a:off x="548640" y="16130016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E651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Archetypes exist on a continuum; moderate boundary overlap is expected.</a:t>
            </a:r>
            <a:endParaRPr lang="en-US" sz="1900" dirty="0"/>
          </a:p>
        </p:txBody>
      </p:sp>
      <p:sp>
        <p:nvSpPr>
          <p:cNvPr id="52" name="Text 50"/>
          <p:cNvSpPr/>
          <p:nvPr/>
        </p:nvSpPr>
        <p:spPr>
          <a:xfrm>
            <a:off x="548640" y="16843248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</a:t>
            </a:r>
            <a:r>
              <a:rPr lang="en-US" sz="19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within-career style evolution; Next gen stats</a:t>
            </a:r>
            <a:endParaRPr lang="en-US" sz="1900" dirty="0"/>
          </a:p>
        </p:txBody>
      </p:sp>
      <p:sp>
        <p:nvSpPr>
          <p:cNvPr id="53" name="Shape 51"/>
          <p:cNvSpPr/>
          <p:nvPr/>
        </p:nvSpPr>
        <p:spPr>
          <a:xfrm>
            <a:off x="457200" y="17830800"/>
            <a:ext cx="813816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457200" y="17830800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Text 53"/>
          <p:cNvSpPr/>
          <p:nvPr/>
        </p:nvSpPr>
        <p:spPr>
          <a:xfrm>
            <a:off x="685800" y="17830800"/>
            <a:ext cx="7909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CODE &amp; REPRODUCIBILITY</a:t>
            </a:r>
            <a:endParaRPr lang="en-US" sz="2200" dirty="0"/>
          </a:p>
        </p:txBody>
      </p:sp>
      <p:sp>
        <p:nvSpPr>
          <p:cNvPr id="57" name="Text 54"/>
          <p:cNvSpPr/>
          <p:nvPr/>
        </p:nvSpPr>
        <p:spPr>
          <a:xfrm>
            <a:off x="3063240" y="18608040"/>
            <a:ext cx="5394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Repository
</a:t>
            </a:r>
            <a:endParaRPr lang="en-US" sz="2000" dirty="0"/>
          </a:p>
          <a:p>
            <a:pPr marL="0" indent="0">
              <a:buNone/>
            </a:pPr>
            <a:r>
              <a:rPr lang="en-US" sz="17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github.com/ShubhanTamhane1/
nfl-qb-archetypes
</a:t>
            </a:r>
            <a:endParaRPr lang="en-US" sz="2000" dirty="0"/>
          </a:p>
          <a:p>
            <a:pPr marL="0" indent="0">
              <a:buNone/>
            </a:pPr>
            <a:r>
              <a:rPr lang="en-US" sz="16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source code, notebook, and data pipeline.</a:t>
            </a:r>
            <a:endParaRPr lang="en-US" sz="2000" dirty="0"/>
          </a:p>
        </p:txBody>
      </p:sp>
      <p:sp>
        <p:nvSpPr>
          <p:cNvPr id="58" name="Shape 55"/>
          <p:cNvSpPr/>
          <p:nvPr/>
        </p:nvSpPr>
        <p:spPr>
          <a:xfrm>
            <a:off x="9281160" y="2999232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6"/>
          <p:cNvSpPr/>
          <p:nvPr/>
        </p:nvSpPr>
        <p:spPr>
          <a:xfrm>
            <a:off x="9281160" y="299923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/>
          <p:nvPr/>
        </p:nvSpPr>
        <p:spPr>
          <a:xfrm>
            <a:off x="9509760" y="2999232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RESULTS — QB CLUSTERS IN PCA SPACE</a:t>
            </a:r>
            <a:endParaRPr lang="en-US" sz="2200" dirty="0"/>
          </a:p>
        </p:txBody>
      </p:sp>
      <p:pic>
        <p:nvPicPr>
          <p:cNvPr id="61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281160" y="3776472"/>
            <a:ext cx="10515600" cy="6583680"/>
          </a:xfrm>
          <a:prstGeom prst="rect">
            <a:avLst/>
          </a:prstGeom>
        </p:spPr>
      </p:pic>
      <p:sp>
        <p:nvSpPr>
          <p:cNvPr id="62" name="Text 58"/>
          <p:cNvSpPr/>
          <p:nvPr/>
        </p:nvSpPr>
        <p:spPr>
          <a:xfrm>
            <a:off x="9281160" y="10497312"/>
            <a:ext cx="10515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 (38.0% variance) separates high-volume passers from limited starters. PC2 (17.2% variance) isolates rushing-dominant players. Dual Threat QBs form a visually distinct cluster at high PC2 values.</a:t>
            </a:r>
            <a:endParaRPr lang="en-US" sz="1900" dirty="0"/>
          </a:p>
        </p:txBody>
      </p:sp>
      <p:sp>
        <p:nvSpPr>
          <p:cNvPr id="63" name="Shape 59"/>
          <p:cNvSpPr/>
          <p:nvPr/>
        </p:nvSpPr>
        <p:spPr>
          <a:xfrm>
            <a:off x="9281160" y="11640312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0"/>
          <p:cNvSpPr/>
          <p:nvPr/>
        </p:nvSpPr>
        <p:spPr>
          <a:xfrm>
            <a:off x="9281160" y="1164031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Text 61"/>
          <p:cNvSpPr/>
          <p:nvPr/>
        </p:nvSpPr>
        <p:spPr>
          <a:xfrm>
            <a:off x="9509760" y="11640312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CLUSTER MEANS (KEY METRICS)</a:t>
            </a:r>
            <a:endParaRPr lang="en-US" sz="22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281160" y="12417552"/>
          <a:ext cx="11887200" cy="3429000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08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Archetype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Pass Yds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TD (pass)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QBR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Rush Yds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Rush TD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A3A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🔵 Pocket Passer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1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7B3F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🟠 Game Manager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E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🟢 Gunslinger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F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2,903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46.4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2000" b="1" dirty="0">
                          <a:solidFill>
                            <a:srgbClr val="7B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🔴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720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1B5E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7" name="Shape 62"/>
          <p:cNvSpPr/>
          <p:nvPr/>
        </p:nvSpPr>
        <p:spPr>
          <a:xfrm>
            <a:off x="9281160" y="16166592"/>
            <a:ext cx="1051560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3"/>
          <p:cNvSpPr/>
          <p:nvPr/>
        </p:nvSpPr>
        <p:spPr>
          <a:xfrm>
            <a:off x="9281160" y="1616659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Text 64"/>
          <p:cNvSpPr/>
          <p:nvPr/>
        </p:nvSpPr>
        <p:spPr>
          <a:xfrm>
            <a:off x="9509760" y="16166592"/>
            <a:ext cx="10287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EXAMPLE PLAYERS PER ARCHETYPE</a:t>
            </a:r>
            <a:endParaRPr lang="en-US" sz="2200" dirty="0"/>
          </a:p>
        </p:txBody>
      </p:sp>
      <p:sp>
        <p:nvSpPr>
          <p:cNvPr id="70" name="Shape 65"/>
          <p:cNvSpPr/>
          <p:nvPr/>
        </p:nvSpPr>
        <p:spPr>
          <a:xfrm>
            <a:off x="9281160" y="16943832"/>
            <a:ext cx="10515600" cy="713232"/>
          </a:xfrm>
          <a:prstGeom prst="rect">
            <a:avLst/>
          </a:prstGeom>
          <a:solidFill>
            <a:srgbClr val="EBF1FF"/>
          </a:solidFill>
          <a:ln w="12700">
            <a:solidFill>
              <a:srgbClr val="1A3A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6"/>
          <p:cNvSpPr/>
          <p:nvPr/>
        </p:nvSpPr>
        <p:spPr>
          <a:xfrm>
            <a:off x="9281160" y="16943832"/>
            <a:ext cx="128016" cy="713232"/>
          </a:xfrm>
          <a:prstGeom prst="rect">
            <a:avLst/>
          </a:prstGeom>
          <a:solidFill>
            <a:srgbClr val="1A3A8F"/>
          </a:solidFill>
          <a:ln w="12700">
            <a:solidFill>
              <a:srgbClr val="1A3A8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67"/>
          <p:cNvSpPr/>
          <p:nvPr/>
        </p:nvSpPr>
        <p:spPr>
          <a:xfrm>
            <a:off x="9509760" y="16943832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A3A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Patrick Mahomes, Dak Prescott, Joe Burrow, Tom Brady, Aaron Rodgers</a:t>
            </a:r>
            <a:endParaRPr lang="en-US" sz="2000" dirty="0"/>
          </a:p>
        </p:txBody>
      </p:sp>
      <p:sp>
        <p:nvSpPr>
          <p:cNvPr id="73" name="Shape 68"/>
          <p:cNvSpPr/>
          <p:nvPr/>
        </p:nvSpPr>
        <p:spPr>
          <a:xfrm>
            <a:off x="9281160" y="17693640"/>
            <a:ext cx="10515600" cy="713232"/>
          </a:xfrm>
          <a:prstGeom prst="rect">
            <a:avLst/>
          </a:prstGeom>
          <a:solidFill>
            <a:srgbClr val="FEF3E2"/>
          </a:solidFill>
          <a:ln w="12700">
            <a:solidFill>
              <a:srgbClr val="7B3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69"/>
          <p:cNvSpPr/>
          <p:nvPr/>
        </p:nvSpPr>
        <p:spPr>
          <a:xfrm>
            <a:off x="9281160" y="17693640"/>
            <a:ext cx="128016" cy="713232"/>
          </a:xfrm>
          <a:prstGeom prst="rect">
            <a:avLst/>
          </a:prstGeom>
          <a:solidFill>
            <a:srgbClr val="7B3F00"/>
          </a:solidFill>
          <a:ln w="12700">
            <a:solidFill>
              <a:srgbClr val="7B3F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Text 70"/>
          <p:cNvSpPr/>
          <p:nvPr/>
        </p:nvSpPr>
        <p:spPr>
          <a:xfrm>
            <a:off x="9509760" y="17693640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3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Manager: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 Jones, Devlin Hodges, Early Jalen Hurts (2020)</a:t>
            </a:r>
            <a:endParaRPr lang="en-US" sz="2000" dirty="0"/>
          </a:p>
        </p:txBody>
      </p:sp>
      <p:sp>
        <p:nvSpPr>
          <p:cNvPr id="76" name="Shape 71"/>
          <p:cNvSpPr/>
          <p:nvPr/>
        </p:nvSpPr>
        <p:spPr>
          <a:xfrm>
            <a:off x="9281160" y="18443448"/>
            <a:ext cx="10515600" cy="713232"/>
          </a:xfrm>
          <a:prstGeom prst="rect">
            <a:avLst/>
          </a:prstGeom>
          <a:solidFill>
            <a:srgbClr val="E8F5E9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2"/>
          <p:cNvSpPr/>
          <p:nvPr/>
        </p:nvSpPr>
        <p:spPr>
          <a:xfrm>
            <a:off x="9281160" y="18443448"/>
            <a:ext cx="128016" cy="713232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Text 73"/>
          <p:cNvSpPr/>
          <p:nvPr/>
        </p:nvSpPr>
        <p:spPr>
          <a:xfrm>
            <a:off x="9509760" y="18443448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Gunslinger: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Justin Herbert, Taylor Heinicke, Sam Howell, Josh Johnson</a:t>
            </a:r>
            <a:endParaRPr lang="en-US" sz="2000" dirty="0"/>
          </a:p>
        </p:txBody>
      </p:sp>
      <p:sp>
        <p:nvSpPr>
          <p:cNvPr id="79" name="Shape 74"/>
          <p:cNvSpPr/>
          <p:nvPr/>
        </p:nvSpPr>
        <p:spPr>
          <a:xfrm>
            <a:off x="9281160" y="19193256"/>
            <a:ext cx="10515600" cy="713232"/>
          </a:xfrm>
          <a:prstGeom prst="rect">
            <a:avLst/>
          </a:prstGeom>
          <a:solidFill>
            <a:srgbClr val="FFEBEE"/>
          </a:solidFill>
          <a:ln w="12700">
            <a:solidFill>
              <a:srgbClr val="7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5"/>
          <p:cNvSpPr/>
          <p:nvPr/>
        </p:nvSpPr>
        <p:spPr>
          <a:xfrm>
            <a:off x="9281160" y="19193256"/>
            <a:ext cx="128016" cy="713232"/>
          </a:xfrm>
          <a:prstGeom prst="rect">
            <a:avLst/>
          </a:prstGeom>
          <a:solidFill>
            <a:srgbClr val="7B0000"/>
          </a:solidFill>
          <a:ln w="12700">
            <a:solidFill>
              <a:srgbClr val="7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Text 76"/>
          <p:cNvSpPr/>
          <p:nvPr/>
        </p:nvSpPr>
        <p:spPr>
          <a:xfrm>
            <a:off x="9509760" y="19193256"/>
            <a:ext cx="1019556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7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Threat:  </a:t>
            </a: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Lamar Jackson, Kyler Murray, Josh Allen, Jalen Hurts</a:t>
            </a:r>
            <a:endParaRPr lang="en-US" sz="2000" dirty="0"/>
          </a:p>
        </p:txBody>
      </p:sp>
      <p:sp>
        <p:nvSpPr>
          <p:cNvPr id="82" name="Shape 77"/>
          <p:cNvSpPr/>
          <p:nvPr/>
        </p:nvSpPr>
        <p:spPr>
          <a:xfrm>
            <a:off x="20482560" y="2999232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78"/>
          <p:cNvSpPr/>
          <p:nvPr/>
        </p:nvSpPr>
        <p:spPr>
          <a:xfrm>
            <a:off x="20482560" y="299923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4" name="Text 79"/>
          <p:cNvSpPr/>
          <p:nvPr/>
        </p:nvSpPr>
        <p:spPr>
          <a:xfrm>
            <a:off x="20711160" y="2999232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STATISTICAL VALIDATION</a:t>
            </a:r>
            <a:endParaRPr lang="en-US" sz="2200" dirty="0"/>
          </a:p>
        </p:txBody>
      </p:sp>
      <p:sp>
        <p:nvSpPr>
          <p:cNvPr id="85" name="Shape 80"/>
          <p:cNvSpPr/>
          <p:nvPr/>
        </p:nvSpPr>
        <p:spPr>
          <a:xfrm>
            <a:off x="20482560" y="3776472"/>
            <a:ext cx="11978640" cy="1737360"/>
          </a:xfrm>
          <a:prstGeom prst="rect">
            <a:avLst/>
          </a:prstGeom>
          <a:solidFill>
            <a:srgbClr val="EAF4EA"/>
          </a:solidFill>
          <a:ln w="25400">
            <a:solidFill>
              <a:srgbClr val="A5D6A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6" name="Text 81"/>
          <p:cNvSpPr/>
          <p:nvPr/>
        </p:nvSpPr>
        <p:spPr>
          <a:xfrm>
            <a:off x="20619720" y="3849624"/>
            <a:ext cx="11612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1B5E2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 / 10  </a:t>
            </a:r>
            <a:r>
              <a:rPr lang="en-US" sz="2200" dirty="0">
                <a:solidFill>
                  <a:srgbClr val="1C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metrics statistically significant</a:t>
            </a:r>
            <a:endParaRPr lang="en-US" sz="4400" dirty="0"/>
          </a:p>
          <a:p>
            <a:pPr marL="0" indent="0">
              <a:buNone/>
            </a:pPr>
            <a:r>
              <a:rPr lang="en-US" sz="2200" dirty="0">
                <a:solidFill>
                  <a:srgbClr val="1C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one-way ANOVA (all p &lt; 0.001)</a:t>
            </a:r>
            <a:endParaRPr lang="en-US" sz="4400" dirty="0"/>
          </a:p>
        </p:txBody>
      </p:sp>
      <p:sp>
        <p:nvSpPr>
          <p:cNvPr id="87" name="Text 82"/>
          <p:cNvSpPr/>
          <p:nvPr/>
        </p:nvSpPr>
        <p:spPr>
          <a:xfrm>
            <a:off x="20619720" y="4965192"/>
            <a:ext cx="116128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Silhouette score at k=4: 0.208  |  Elbow + silhouette both confirmed k=4  |  Tukey HSD run on all 10 metrics</a:t>
            </a:r>
            <a:endParaRPr lang="en-US" sz="1700" dirty="0"/>
          </a:p>
        </p:txBody>
      </p:sp>
      <p:sp>
        <p:nvSpPr>
          <p:cNvPr id="88" name="Shape 83"/>
          <p:cNvSpPr/>
          <p:nvPr/>
        </p:nvSpPr>
        <p:spPr>
          <a:xfrm>
            <a:off x="20482560" y="5650992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4"/>
          <p:cNvSpPr/>
          <p:nvPr/>
        </p:nvSpPr>
        <p:spPr>
          <a:xfrm>
            <a:off x="20482560" y="565099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Text 85"/>
          <p:cNvSpPr/>
          <p:nvPr/>
        </p:nvSpPr>
        <p:spPr>
          <a:xfrm>
            <a:off x="20711160" y="5650992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TUKEY HSD POST-HOC RESULTS (QBR)</a:t>
            </a:r>
            <a:endParaRPr lang="en-US" sz="2200" dirty="0"/>
          </a:p>
        </p:txBody>
      </p:sp>
      <p:graphicFrame>
        <p:nvGraphicFramePr>
          <p:cNvPr id="9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482560" y="6428232"/>
          <a:ext cx="8686800" cy="3730752"/>
        </p:xfrm>
        <a:graphic>
          <a:graphicData uri="http://schemas.openxmlformats.org/drawingml/2006/table">
            <a:tbl>
              <a:tblPr/>
              <a:tblGrid>
                <a:gridCol w="5486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Comparison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Sig.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A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Pocket Passer vs. Game Manager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***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Pocket Passer vs. Gunslinger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***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Pocket Passer vs.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0.9439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5A6A7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Manager vs.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***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179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>
                          <a:solidFill>
                            <a:srgbClr val="1C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Gunslinger vs. Dual Threat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0.001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000" b="1" dirty="0">
                          <a:solidFill>
                            <a:srgbClr val="B7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***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8D6E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2" name="Shape 86"/>
          <p:cNvSpPr/>
          <p:nvPr/>
        </p:nvSpPr>
        <p:spPr>
          <a:xfrm>
            <a:off x="20482560" y="10725912"/>
            <a:ext cx="11978640" cy="2011680"/>
          </a:xfrm>
          <a:prstGeom prst="rect">
            <a:avLst/>
          </a:prstGeom>
          <a:solidFill>
            <a:srgbClr val="FFF8E1"/>
          </a:solidFill>
          <a:ln w="254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Text 87"/>
          <p:cNvSpPr/>
          <p:nvPr/>
        </p:nvSpPr>
        <p:spPr>
          <a:xfrm>
            <a:off x="20619720" y="10817352"/>
            <a:ext cx="11612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7B58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Key Finding</a:t>
            </a:r>
            <a:endParaRPr lang="en-US" sz="2200" dirty="0"/>
          </a:p>
        </p:txBody>
      </p:sp>
      <p:sp>
        <p:nvSpPr>
          <p:cNvPr id="94" name="Text 88"/>
          <p:cNvSpPr/>
          <p:nvPr/>
        </p:nvSpPr>
        <p:spPr>
          <a:xfrm>
            <a:off x="20619720" y="11292840"/>
            <a:ext cx="1161288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C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Pocket Passers and Dual Threats show no significant difference in QBR (p = 0.9439), despite radically different playing styles — elite efficiency is achievable through passing volume or rushing dominance equally.</a:t>
            </a:r>
            <a:endParaRPr lang="en-US" sz="2000" dirty="0"/>
          </a:p>
        </p:txBody>
      </p:sp>
      <p:sp>
        <p:nvSpPr>
          <p:cNvPr id="95" name="Shape 89"/>
          <p:cNvSpPr/>
          <p:nvPr/>
        </p:nvSpPr>
        <p:spPr>
          <a:xfrm>
            <a:off x="20482560" y="12920472"/>
            <a:ext cx="11978640" cy="658368"/>
          </a:xfrm>
          <a:prstGeom prst="rect">
            <a:avLst/>
          </a:prstGeom>
          <a:solidFill>
            <a:srgbClr val="1A3A5C"/>
          </a:solidFill>
          <a:ln w="12700">
            <a:solidFill>
              <a:srgbClr val="1A3A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0"/>
          <p:cNvSpPr/>
          <p:nvPr/>
        </p:nvSpPr>
        <p:spPr>
          <a:xfrm>
            <a:off x="20482560" y="12920472"/>
            <a:ext cx="128016" cy="658368"/>
          </a:xfrm>
          <a:prstGeom prst="rect">
            <a:avLst/>
          </a:prstGeom>
          <a:solidFill>
            <a:srgbClr val="F4A620"/>
          </a:solidFill>
          <a:ln w="12700">
            <a:solidFill>
              <a:srgbClr val="F4A62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1"/>
          <p:cNvSpPr/>
          <p:nvPr/>
        </p:nvSpPr>
        <p:spPr>
          <a:xfrm>
            <a:off x="20711160" y="12920472"/>
            <a:ext cx="11750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ARCHETYPE DISTRIBUTION</a:t>
            </a:r>
            <a:endParaRPr lang="en-US" sz="2200" dirty="0"/>
          </a:p>
        </p:txBody>
      </p:sp>
      <p:graphicFrame>
        <p:nvGraphicFramePr>
          <p:cNvPr id="98" name="Chart 0"/>
          <p:cNvGraphicFramePr/>
          <p:nvPr/>
        </p:nvGraphicFramePr>
        <p:xfrm>
          <a:off x="20482560" y="13697712"/>
          <a:ext cx="119786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9" name="Text 92"/>
          <p:cNvSpPr/>
          <p:nvPr/>
        </p:nvSpPr>
        <p:spPr>
          <a:xfrm>
            <a:off x="20482560" y="17035272"/>
            <a:ext cx="1197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5A6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References: Celebi et al. (2013) Expert Syst. Appl. 40:200–210  •  Lutz (2012) J. Quant. Anal. Sports 8  •  Quealy &amp; Carter (2013) NYT  •  Data: Pro Football Reference (pfr.com)</a:t>
            </a:r>
            <a:endParaRPr lang="en-US" sz="1600" dirty="0"/>
          </a:p>
        </p:txBody>
      </p:sp>
      <p:pic>
        <p:nvPicPr>
          <p:cNvPr id="101" name="Picture 100" descr="A qr code on a white background&#10;&#10;AI-generated content may be incorrect.">
            <a:extLst>
              <a:ext uri="{FF2B5EF4-FFF2-40B4-BE49-F238E27FC236}">
                <a16:creationId xmlns:a16="http://schemas.microsoft.com/office/drawing/2014/main" id="{A256B1CB-1CAB-4D67-F704-C48497C3FEE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" y="18685764"/>
            <a:ext cx="2724912" cy="272491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608</Words>
  <Application>Microsoft Macintosh PowerPoint</Application>
  <PresentationFormat>Custom</PresentationFormat>
  <Paragraphs>110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Office Theme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Shubhan N. Tamhane</cp:lastModifiedBy>
  <cp:revision>3</cp:revision>
  <dcterms:created xsi:type="dcterms:W3CDTF">2026-03-06T19:02:32Z</dcterms:created>
  <dcterms:modified xsi:type="dcterms:W3CDTF">2026-03-08T23:53:52Z</dcterms:modified>
</cp:coreProperties>
</file>