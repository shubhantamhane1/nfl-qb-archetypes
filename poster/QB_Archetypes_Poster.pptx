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1F4E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C1C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4E9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7AE6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Pocket Passer</c:v>
                  </c:pt>
                  <c:pt idx="1">
                    <c:v>Game Manager</c:v>
                  </c:pt>
                  <c:pt idx="2">
                    <c:v>Gunslinger</c:v>
                  </c:pt>
                  <c:pt idx="3">
                    <c:v>Dual Threat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85</c:v>
                </c:pt>
                <c:pt idx="1">
                  <c:v>48</c:v>
                </c:pt>
                <c:pt idx="2">
                  <c:v>47</c:v>
                </c:pt>
                <c:pt idx="3">
                  <c:v>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C1C1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5A6A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5A6A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12161520" cy="50292"/>
          </a:xfrm>
          <a:prstGeom prst="rect">
            <a:avLst/>
          </a:prstGeom>
          <a:solidFill>
            <a:srgbClr val="F4A620"/>
          </a:solidFill>
          <a:ln w="12700">
            <a:solidFill>
              <a:srgbClr val="F4A6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5720"/>
            <a:ext cx="9326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Identifying NFL Quarterback Archetypes via K-Means Clustering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28600" y="548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F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Shubhan Tamhane  </a:t>
            </a:r>
            <a:pPr algn="l" indent="0" marL="0">
              <a:buNone/>
            </a:pPr>
            <a:r>
              <a:rPr lang="en-US" sz="1000" dirty="0">
                <a:solidFill>
                  <a:srgbClr val="BF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Undergraduate Data Science Student  |  University of Connecticut  |  Spring 2026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378440" y="73152"/>
            <a:ext cx="1645920" cy="749808"/>
          </a:xfrm>
          <a:prstGeom prst="rect">
            <a:avLst/>
          </a:prstGeom>
          <a:solidFill>
            <a:srgbClr val="002868"/>
          </a:solidFill>
          <a:ln w="25400">
            <a:solidFill>
              <a:srgbClr val="F4A6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78440" y="73152"/>
            <a:ext cx="1645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A6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UCONN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4A6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SCIENCE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91440" y="1024128"/>
            <a:ext cx="3246120" cy="5779008"/>
          </a:xfrm>
          <a:prstGeom prst="rect">
            <a:avLst/>
          </a:prstGeom>
          <a:solidFill>
            <a:srgbClr val="FFFFFF"/>
          </a:solidFill>
          <a:ln w="9525">
            <a:solidFill>
              <a:srgbClr val="C8D6E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19856" y="1024128"/>
            <a:ext cx="4133088" cy="5779008"/>
          </a:xfrm>
          <a:prstGeom prst="rect">
            <a:avLst/>
          </a:prstGeom>
          <a:solidFill>
            <a:srgbClr val="FFFFFF"/>
          </a:solidFill>
          <a:ln w="9525">
            <a:solidFill>
              <a:srgbClr val="C8D6E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635240" y="1024128"/>
            <a:ext cx="4434840" cy="5779008"/>
          </a:xfrm>
          <a:prstGeom prst="rect">
            <a:avLst/>
          </a:prstGeom>
          <a:solidFill>
            <a:srgbClr val="FFFFFF"/>
          </a:solidFill>
          <a:ln w="9525">
            <a:solidFill>
              <a:srgbClr val="C8D6E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115568"/>
            <a:ext cx="3063240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" y="1115568"/>
            <a:ext cx="50292" cy="237744"/>
          </a:xfrm>
          <a:prstGeom prst="rect">
            <a:avLst/>
          </a:prstGeom>
          <a:solidFill>
            <a:srgbClr val="F4A620"/>
          </a:solidFill>
          <a:ln w="12700">
            <a:solidFill>
              <a:srgbClr val="F4A6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115568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" y="1389888"/>
            <a:ext cx="29718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QB metrics like passer rating collapse multidimensional playing styles into a single value. This study asks: Can K-means clustering identify distinct, interpretable archetypes from NFL performance data — without imposing labels a priori?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82880" y="2103120"/>
            <a:ext cx="3063240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" y="2103120"/>
            <a:ext cx="50292" cy="237744"/>
          </a:xfrm>
          <a:prstGeom prst="rect">
            <a:avLst/>
          </a:prstGeom>
          <a:solidFill>
            <a:srgbClr val="F4A620"/>
          </a:solidFill>
          <a:ln w="12700">
            <a:solidFill>
              <a:srgbClr val="F4A6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103120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" y="2377440"/>
            <a:ext cx="96012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C8D6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239572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8600" y="267919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QB-Seasons</a:t>
            </a:r>
            <a:endParaRPr lang="en-US" sz="680" dirty="0"/>
          </a:p>
        </p:txBody>
      </p:sp>
      <p:sp>
        <p:nvSpPr>
          <p:cNvPr id="21" name="Shape 19"/>
          <p:cNvSpPr/>
          <p:nvPr/>
        </p:nvSpPr>
        <p:spPr>
          <a:xfrm>
            <a:off x="1252728" y="2377440"/>
            <a:ext cx="96012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C8D6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52728" y="239572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2019–24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52728" y="267919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NFL Seasons</a:t>
            </a:r>
            <a:endParaRPr lang="en-US" sz="680" dirty="0"/>
          </a:p>
        </p:txBody>
      </p:sp>
      <p:sp>
        <p:nvSpPr>
          <p:cNvPr id="24" name="Shape 22"/>
          <p:cNvSpPr/>
          <p:nvPr/>
        </p:nvSpPr>
        <p:spPr>
          <a:xfrm>
            <a:off x="2276856" y="2377440"/>
            <a:ext cx="96012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C8D6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76856" y="239572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≥100/20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276856" y="267919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Pass/Rush Att.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228600" y="2980944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8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Football Reference. Merged passing &amp; rushing stats; mid-season trades via totals rows. QBR imputed with mean; longest rush with median.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182880" y="3483864"/>
            <a:ext cx="3063240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2880" y="3483864"/>
            <a:ext cx="50292" cy="237744"/>
          </a:xfrm>
          <a:prstGeom prst="rect">
            <a:avLst/>
          </a:prstGeom>
          <a:solidFill>
            <a:srgbClr val="F4A620"/>
          </a:solidFill>
          <a:ln w="12700">
            <a:solidFill>
              <a:srgbClr val="F4A6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483864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28600" y="3785616"/>
            <a:ext cx="182880" cy="18288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8600" y="37856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57200" y="3758184"/>
            <a:ext cx="2724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 </a:t>
            </a:r>
            <a:pPr indent="0" marL="0">
              <a:buNone/>
            </a:pPr>
            <a:r>
              <a:rPr lang="en-US" sz="7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passing + rushing metrics; non-numeric identifiers dropped.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28600" y="4050792"/>
            <a:ext cx="182880" cy="18288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8600" y="40507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57200" y="4023360"/>
            <a:ext cx="2724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  </a:t>
            </a:r>
            <a:pPr indent="0" marL="0">
              <a:buNone/>
            </a:pPr>
            <a:r>
              <a:rPr lang="en-US" sz="7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scaling (StandardScaler) to equalize magnitudes.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28600" y="4315968"/>
            <a:ext cx="182880" cy="18288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8600" y="43159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57200" y="4288536"/>
            <a:ext cx="2724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 </a:t>
            </a:r>
            <a:pPr indent="0" marL="0">
              <a:buNone/>
            </a:pPr>
            <a:r>
              <a:rPr lang="en-US" sz="7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reduction; ~90% variance at 10 PCs.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28600" y="4581144"/>
            <a:ext cx="182880" cy="18288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8600" y="45811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4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457200" y="4553712"/>
            <a:ext cx="2724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 </a:t>
            </a:r>
            <a:pPr indent="0" marL="0">
              <a:buNone/>
            </a:pPr>
            <a:r>
              <a:rPr lang="en-US" sz="7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k-means++ init; k=2–10 via elbow + silhouette score. k=4 chosen.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228600" y="4846320"/>
            <a:ext cx="182880" cy="18288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28600" y="48463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5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57200" y="4818888"/>
            <a:ext cx="2724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 </a:t>
            </a:r>
            <a:pPr indent="0" marL="0">
              <a:buNone/>
            </a:pPr>
            <a:r>
              <a:rPr lang="en-US" sz="7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ANOVA + Tukey HSD post-hoc on all key metrics.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182880" y="5175504"/>
            <a:ext cx="3063240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82880" y="5175504"/>
            <a:ext cx="50292" cy="237744"/>
          </a:xfrm>
          <a:prstGeom prst="rect">
            <a:avLst/>
          </a:prstGeom>
          <a:solidFill>
            <a:srgbClr val="F4A620"/>
          </a:solidFill>
          <a:ln w="12700">
            <a:solidFill>
              <a:srgbClr val="F4A62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5175504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28600" y="5449824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8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ANOVA tests significant (p &lt; 0.001) — clusters are statistically real.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28600" y="5724144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8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High-performing QBs across archetypes share efficiency but differ in volume &amp; mobility.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28600" y="5998464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pPr indent="0" marL="0">
              <a:buNone/>
            </a:pPr>
            <a:r>
              <a:rPr lang="en-US" sz="8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Archetypes exist on a continuum; moderate overlap is expected (silhouette = 0.208).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28600" y="6272784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8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within-career evolution; GMMs for soft cluster membership.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511296" y="1115568"/>
            <a:ext cx="395020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511296" y="1115568"/>
            <a:ext cx="50292" cy="237744"/>
          </a:xfrm>
          <a:prstGeom prst="rect">
            <a:avLst/>
          </a:prstGeom>
          <a:solidFill>
            <a:srgbClr val="F4A620"/>
          </a:solidFill>
          <a:ln w="12700">
            <a:solidFill>
              <a:srgbClr val="F4A62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02736" y="1115568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— ARCHETYPE RADAR PROFILES</a:t>
            </a:r>
            <a:endParaRPr lang="en-US" sz="900" dirty="0"/>
          </a:p>
        </p:txBody>
      </p:sp>
      <p:pic>
        <p:nvPicPr>
          <p:cNvPr id="5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511296" y="1389888"/>
            <a:ext cx="3950208" cy="1965960"/>
          </a:xfrm>
          <a:prstGeom prst="rect">
            <a:avLst/>
          </a:prstGeom>
        </p:spPr>
      </p:pic>
      <p:sp>
        <p:nvSpPr>
          <p:cNvPr id="57" name="Text 54"/>
          <p:cNvSpPr/>
          <p:nvPr/>
        </p:nvSpPr>
        <p:spPr>
          <a:xfrm>
            <a:off x="3511296" y="3401568"/>
            <a:ext cx="39502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profiles (0–1) across 8 key metrics. Dual Threat QBs dominate rushing dimensions; Game Managers cluster near zero.</a:t>
            </a:r>
            <a:endParaRPr lang="en-US" sz="750" dirty="0"/>
          </a:p>
        </p:txBody>
      </p:sp>
      <p:sp>
        <p:nvSpPr>
          <p:cNvPr id="58" name="Shape 55"/>
          <p:cNvSpPr/>
          <p:nvPr/>
        </p:nvSpPr>
        <p:spPr>
          <a:xfrm>
            <a:off x="3511296" y="3675888"/>
            <a:ext cx="395020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3511296" y="3675888"/>
            <a:ext cx="50292" cy="237744"/>
          </a:xfrm>
          <a:prstGeom prst="rect">
            <a:avLst/>
          </a:prstGeom>
          <a:solidFill>
            <a:srgbClr val="F4A620"/>
          </a:solidFill>
          <a:ln w="12700">
            <a:solidFill>
              <a:srgbClr val="F4A620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3602736" y="3675888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CLUSTER MEANS (KEY METRICS)</a:t>
            </a:r>
            <a:endParaRPr lang="en-US" sz="9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11296" y="3950208"/>
          <a:ext cx="3950208" cy="914400"/>
        </p:xfrm>
        <a:graphic>
          <a:graphicData uri="http://schemas.openxmlformats.org/drawingml/2006/table">
            <a:tbl>
              <a:tblPr/>
              <a:tblGrid>
                <a:gridCol w="1298448"/>
                <a:gridCol w="585216"/>
                <a:gridCol w="475488"/>
                <a:gridCol w="475488"/>
                <a:gridCol w="530352"/>
                <a:gridCol w="585216"/>
                <a:gridCol w="347472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Archetype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Yds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QBR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Rush Yds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🔵 Pocket Passer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4,102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6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7B3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🟠 Game Manager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1,475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6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 Gunslinger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2,903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6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7B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Dual Threat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3,430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6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2" name="Shape 58"/>
          <p:cNvSpPr/>
          <p:nvPr/>
        </p:nvSpPr>
        <p:spPr>
          <a:xfrm>
            <a:off x="3511296" y="5266944"/>
            <a:ext cx="395020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3511296" y="5266944"/>
            <a:ext cx="50292" cy="237744"/>
          </a:xfrm>
          <a:prstGeom prst="rect">
            <a:avLst/>
          </a:prstGeom>
          <a:solidFill>
            <a:srgbClr val="F4A620"/>
          </a:solidFill>
          <a:ln w="12700">
            <a:solidFill>
              <a:srgbClr val="F4A620"/>
            </a:solidFill>
            <a:prstDash val="solid"/>
          </a:ln>
        </p:spPr>
      </p:sp>
      <p:sp>
        <p:nvSpPr>
          <p:cNvPr id="64" name="Text 60"/>
          <p:cNvSpPr/>
          <p:nvPr/>
        </p:nvSpPr>
        <p:spPr>
          <a:xfrm>
            <a:off x="3602736" y="5266944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 PLAYERS PER ARCHETYPE</a:t>
            </a:r>
            <a:endParaRPr lang="en-US" sz="900" dirty="0"/>
          </a:p>
        </p:txBody>
      </p:sp>
      <p:sp>
        <p:nvSpPr>
          <p:cNvPr id="65" name="Shape 61"/>
          <p:cNvSpPr/>
          <p:nvPr/>
        </p:nvSpPr>
        <p:spPr>
          <a:xfrm>
            <a:off x="3511296" y="5541264"/>
            <a:ext cx="3950208" cy="256032"/>
          </a:xfrm>
          <a:prstGeom prst="rect">
            <a:avLst/>
          </a:prstGeom>
          <a:solidFill>
            <a:srgbClr val="EBF1FF"/>
          </a:solidFill>
          <a:ln w="9525">
            <a:solidFill>
              <a:srgbClr val="1A3A8F"/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3511296" y="5541264"/>
            <a:ext cx="45720" cy="256032"/>
          </a:xfrm>
          <a:prstGeom prst="rect">
            <a:avLst/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</p:spPr>
      </p:sp>
      <p:sp>
        <p:nvSpPr>
          <p:cNvPr id="67" name="Text 63"/>
          <p:cNvSpPr/>
          <p:nvPr/>
        </p:nvSpPr>
        <p:spPr>
          <a:xfrm>
            <a:off x="3602736" y="5541264"/>
            <a:ext cx="3813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Pocket Passer:  </a:t>
            </a:r>
            <a:pPr indent="0" marL="0">
              <a:buNone/>
            </a:pPr>
            <a:r>
              <a:rPr lang="en-US" sz="7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Patrick Mahomes, Dak Prescott, Joe Burrow, Tom Brady, Aaron Rodgers</a:t>
            </a:r>
            <a:endParaRPr lang="en-US" sz="750" dirty="0"/>
          </a:p>
        </p:txBody>
      </p:sp>
      <p:sp>
        <p:nvSpPr>
          <p:cNvPr id="68" name="Shape 64"/>
          <p:cNvSpPr/>
          <p:nvPr/>
        </p:nvSpPr>
        <p:spPr>
          <a:xfrm>
            <a:off x="3511296" y="5815584"/>
            <a:ext cx="3950208" cy="256032"/>
          </a:xfrm>
          <a:prstGeom prst="rect">
            <a:avLst/>
          </a:prstGeom>
          <a:solidFill>
            <a:srgbClr val="FEF3E2"/>
          </a:solidFill>
          <a:ln w="9525">
            <a:solidFill>
              <a:srgbClr val="7B3F00"/>
            </a:solidFill>
            <a:prstDash val="solid"/>
          </a:ln>
        </p:spPr>
      </p:sp>
      <p:sp>
        <p:nvSpPr>
          <p:cNvPr id="69" name="Shape 65"/>
          <p:cNvSpPr/>
          <p:nvPr/>
        </p:nvSpPr>
        <p:spPr>
          <a:xfrm>
            <a:off x="3511296" y="5815584"/>
            <a:ext cx="45720" cy="256032"/>
          </a:xfrm>
          <a:prstGeom prst="rect">
            <a:avLst/>
          </a:prstGeom>
          <a:solidFill>
            <a:srgbClr val="7B3F00"/>
          </a:solidFill>
          <a:ln w="12700">
            <a:solidFill>
              <a:srgbClr val="7B3F00"/>
            </a:solidFill>
            <a:prstDash val="solid"/>
          </a:ln>
        </p:spPr>
      </p:sp>
      <p:sp>
        <p:nvSpPr>
          <p:cNvPr id="70" name="Text 66"/>
          <p:cNvSpPr/>
          <p:nvPr/>
        </p:nvSpPr>
        <p:spPr>
          <a:xfrm>
            <a:off x="3602736" y="5815584"/>
            <a:ext cx="3813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Manager:  </a:t>
            </a:r>
            <a:pPr indent="0" marL="0">
              <a:buNone/>
            </a:pPr>
            <a:r>
              <a:rPr lang="en-US" sz="7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Jones, Devlin Hodges, Early Jalen Hurts (2020)</a:t>
            </a:r>
            <a:endParaRPr lang="en-US" sz="750" dirty="0"/>
          </a:p>
        </p:txBody>
      </p:sp>
      <p:sp>
        <p:nvSpPr>
          <p:cNvPr id="71" name="Shape 67"/>
          <p:cNvSpPr/>
          <p:nvPr/>
        </p:nvSpPr>
        <p:spPr>
          <a:xfrm>
            <a:off x="3511296" y="6089904"/>
            <a:ext cx="3950208" cy="256032"/>
          </a:xfrm>
          <a:prstGeom prst="rect">
            <a:avLst/>
          </a:prstGeom>
          <a:solidFill>
            <a:srgbClr val="E8F5E9"/>
          </a:solidFill>
          <a:ln w="9525">
            <a:solidFill>
              <a:srgbClr val="1B5E20"/>
            </a:solidFill>
            <a:prstDash val="solid"/>
          </a:ln>
        </p:spPr>
      </p:sp>
      <p:sp>
        <p:nvSpPr>
          <p:cNvPr id="72" name="Shape 68"/>
          <p:cNvSpPr/>
          <p:nvPr/>
        </p:nvSpPr>
        <p:spPr>
          <a:xfrm>
            <a:off x="3511296" y="6089904"/>
            <a:ext cx="45720" cy="25603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73" name="Text 69"/>
          <p:cNvSpPr/>
          <p:nvPr/>
        </p:nvSpPr>
        <p:spPr>
          <a:xfrm>
            <a:off x="3602736" y="6089904"/>
            <a:ext cx="3813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Gunslinger:  </a:t>
            </a:r>
            <a:pPr indent="0" marL="0">
              <a:buNone/>
            </a:pPr>
            <a:r>
              <a:rPr lang="en-US" sz="7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Justin Herbert, Taylor Heinicke, Sam Howell, Josh Johnson</a:t>
            </a:r>
            <a:endParaRPr lang="en-US" sz="750" dirty="0"/>
          </a:p>
        </p:txBody>
      </p:sp>
      <p:sp>
        <p:nvSpPr>
          <p:cNvPr id="74" name="Shape 70"/>
          <p:cNvSpPr/>
          <p:nvPr/>
        </p:nvSpPr>
        <p:spPr>
          <a:xfrm>
            <a:off x="3511296" y="6364224"/>
            <a:ext cx="3950208" cy="256032"/>
          </a:xfrm>
          <a:prstGeom prst="rect">
            <a:avLst/>
          </a:prstGeom>
          <a:solidFill>
            <a:srgbClr val="FFEBEE"/>
          </a:solidFill>
          <a:ln w="9525">
            <a:solidFill>
              <a:srgbClr val="7B0000"/>
            </a:solidFill>
            <a:prstDash val="solid"/>
          </a:ln>
        </p:spPr>
      </p:sp>
      <p:sp>
        <p:nvSpPr>
          <p:cNvPr id="75" name="Shape 71"/>
          <p:cNvSpPr/>
          <p:nvPr/>
        </p:nvSpPr>
        <p:spPr>
          <a:xfrm>
            <a:off x="3511296" y="6364224"/>
            <a:ext cx="45720" cy="256032"/>
          </a:xfrm>
          <a:prstGeom prst="rect">
            <a:avLst/>
          </a:prstGeom>
          <a:solidFill>
            <a:srgbClr val="7B0000"/>
          </a:solidFill>
          <a:ln w="12700">
            <a:solidFill>
              <a:srgbClr val="7B0000"/>
            </a:solidFill>
            <a:prstDash val="solid"/>
          </a:ln>
        </p:spPr>
      </p:sp>
      <p:sp>
        <p:nvSpPr>
          <p:cNvPr id="76" name="Text 72"/>
          <p:cNvSpPr/>
          <p:nvPr/>
        </p:nvSpPr>
        <p:spPr>
          <a:xfrm>
            <a:off x="3602736" y="6364224"/>
            <a:ext cx="3813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Threat:  </a:t>
            </a:r>
            <a:pPr indent="0" marL="0">
              <a:buNone/>
            </a:pPr>
            <a:r>
              <a:rPr lang="en-US" sz="7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Lamar Jackson, Kyler Murray, Josh Allen, Jalen Hurts</a:t>
            </a:r>
            <a:endParaRPr lang="en-US" sz="750" dirty="0"/>
          </a:p>
        </p:txBody>
      </p:sp>
      <p:sp>
        <p:nvSpPr>
          <p:cNvPr id="77" name="Shape 73"/>
          <p:cNvSpPr/>
          <p:nvPr/>
        </p:nvSpPr>
        <p:spPr>
          <a:xfrm>
            <a:off x="7726680" y="1115568"/>
            <a:ext cx="4251960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>
            <a:off x="7726680" y="1115568"/>
            <a:ext cx="50292" cy="237744"/>
          </a:xfrm>
          <a:prstGeom prst="rect">
            <a:avLst/>
          </a:prstGeom>
          <a:solidFill>
            <a:srgbClr val="F4A620"/>
          </a:solidFill>
          <a:ln w="12700">
            <a:solidFill>
              <a:srgbClr val="F4A620"/>
            </a:solidFill>
            <a:prstDash val="solid"/>
          </a:ln>
        </p:spPr>
      </p:sp>
      <p:sp>
        <p:nvSpPr>
          <p:cNvPr id="79" name="Text 75"/>
          <p:cNvSpPr/>
          <p:nvPr/>
        </p:nvSpPr>
        <p:spPr>
          <a:xfrm>
            <a:off x="7818120" y="1115568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— QB CLUSTERS IN PCA SPACE</a:t>
            </a:r>
            <a:endParaRPr lang="en-US" sz="900" dirty="0"/>
          </a:p>
        </p:txBody>
      </p:sp>
      <p:pic>
        <p:nvPicPr>
          <p:cNvPr id="8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726680" y="1389888"/>
            <a:ext cx="4251960" cy="1554480"/>
          </a:xfrm>
          <a:prstGeom prst="rect">
            <a:avLst/>
          </a:prstGeom>
        </p:spPr>
      </p:pic>
      <p:sp>
        <p:nvSpPr>
          <p:cNvPr id="81" name="Text 76"/>
          <p:cNvSpPr/>
          <p:nvPr/>
        </p:nvSpPr>
        <p:spPr>
          <a:xfrm>
            <a:off x="7726680" y="2990088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 (38.0%) separates high-volume QBs. PC2 (17.2%) isolates rushing-dominant players. Dual Threat QBs form a visually distinct cluster at high PC2.</a:t>
            </a:r>
            <a:endParaRPr lang="en-US" sz="750" dirty="0"/>
          </a:p>
        </p:txBody>
      </p:sp>
      <p:sp>
        <p:nvSpPr>
          <p:cNvPr id="82" name="Shape 77"/>
          <p:cNvSpPr/>
          <p:nvPr/>
        </p:nvSpPr>
        <p:spPr>
          <a:xfrm>
            <a:off x="7726680" y="3300984"/>
            <a:ext cx="4251960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7726680" y="3300984"/>
            <a:ext cx="50292" cy="237744"/>
          </a:xfrm>
          <a:prstGeom prst="rect">
            <a:avLst/>
          </a:prstGeom>
          <a:solidFill>
            <a:srgbClr val="F4A620"/>
          </a:solidFill>
          <a:ln w="12700">
            <a:solidFill>
              <a:srgbClr val="F4A620"/>
            </a:solidFill>
            <a:prstDash val="solid"/>
          </a:ln>
        </p:spPr>
      </p:sp>
      <p:sp>
        <p:nvSpPr>
          <p:cNvPr id="84" name="Text 79"/>
          <p:cNvSpPr/>
          <p:nvPr/>
        </p:nvSpPr>
        <p:spPr>
          <a:xfrm>
            <a:off x="7818120" y="3300984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STATISTICAL VALIDATION</a:t>
            </a:r>
            <a:endParaRPr lang="en-US" sz="900" dirty="0"/>
          </a:p>
        </p:txBody>
      </p:sp>
      <p:sp>
        <p:nvSpPr>
          <p:cNvPr id="85" name="Shape 80"/>
          <p:cNvSpPr/>
          <p:nvPr/>
        </p:nvSpPr>
        <p:spPr>
          <a:xfrm>
            <a:off x="7726680" y="3575304"/>
            <a:ext cx="4251960" cy="548640"/>
          </a:xfrm>
          <a:prstGeom prst="rect">
            <a:avLst/>
          </a:prstGeom>
          <a:solidFill>
            <a:srgbClr val="EAF4EA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86" name="Text 81"/>
          <p:cNvSpPr/>
          <p:nvPr/>
        </p:nvSpPr>
        <p:spPr>
          <a:xfrm>
            <a:off x="7818120" y="3602736"/>
            <a:ext cx="4069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/ 10 </a:t>
            </a:r>
            <a:pPr indent="0" marL="0">
              <a:buNone/>
            </a:pPr>
            <a:r>
              <a:rPr lang="en-US" sz="85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metrics significant by one-way ANOVA (all p &lt; 0.001)</a:t>
            </a:r>
            <a:endParaRPr lang="en-US" sz="1700" dirty="0"/>
          </a:p>
        </p:txBody>
      </p:sp>
      <p:sp>
        <p:nvSpPr>
          <p:cNvPr id="87" name="Text 82"/>
          <p:cNvSpPr/>
          <p:nvPr/>
        </p:nvSpPr>
        <p:spPr>
          <a:xfrm>
            <a:off x="7818120" y="3922776"/>
            <a:ext cx="4069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3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k=4: 0.208  |  Elbow + silhouette confirmed k=4  |  Tukey HSD run on all metrics</a:t>
            </a:r>
            <a:endParaRPr lang="en-US" sz="730" dirty="0"/>
          </a:p>
        </p:txBody>
      </p:sp>
      <p:sp>
        <p:nvSpPr>
          <p:cNvPr id="88" name="Shape 83"/>
          <p:cNvSpPr/>
          <p:nvPr/>
        </p:nvSpPr>
        <p:spPr>
          <a:xfrm>
            <a:off x="7726680" y="4197096"/>
            <a:ext cx="4251960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9" name="Shape 84"/>
          <p:cNvSpPr/>
          <p:nvPr/>
        </p:nvSpPr>
        <p:spPr>
          <a:xfrm>
            <a:off x="7726680" y="4197096"/>
            <a:ext cx="50292" cy="237744"/>
          </a:xfrm>
          <a:prstGeom prst="rect">
            <a:avLst/>
          </a:prstGeom>
          <a:solidFill>
            <a:srgbClr val="F4A620"/>
          </a:solidFill>
          <a:ln w="12700">
            <a:solidFill>
              <a:srgbClr val="F4A620"/>
            </a:solidFill>
            <a:prstDash val="solid"/>
          </a:ln>
        </p:spPr>
      </p:sp>
      <p:sp>
        <p:nvSpPr>
          <p:cNvPr id="90" name="Text 85"/>
          <p:cNvSpPr/>
          <p:nvPr/>
        </p:nvSpPr>
        <p:spPr>
          <a:xfrm>
            <a:off x="7818120" y="4197096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TUKEY HSD POST-HOC (QBR)</a:t>
            </a:r>
            <a:endParaRPr lang="en-US" sz="9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26680" y="4471416"/>
          <a:ext cx="4251960" cy="914400"/>
        </p:xfrm>
        <a:graphic>
          <a:graphicData uri="http://schemas.openxmlformats.org/drawingml/2006/table">
            <a:tbl>
              <a:tblPr/>
              <a:tblGrid>
                <a:gridCol w="2084832"/>
                <a:gridCol w="694944"/>
                <a:gridCol w="457200"/>
              </a:tblGrid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Pocket Passer vs. Game Manager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***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Pocket Passer vs. Gunslinger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***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Pocket Passer vs. Dual Threat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5A6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0.9439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5A6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Game Manager vs. Dual Threat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***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Gunslinger vs. Dual Threat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***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</a:tr>
            </a:tbl>
          </a:graphicData>
        </a:graphic>
      </p:graphicFrame>
      <p:sp>
        <p:nvSpPr>
          <p:cNvPr id="92" name="Shape 86"/>
          <p:cNvSpPr/>
          <p:nvPr/>
        </p:nvSpPr>
        <p:spPr>
          <a:xfrm>
            <a:off x="7726680" y="5696712"/>
            <a:ext cx="4251960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3" name="Shape 87"/>
          <p:cNvSpPr/>
          <p:nvPr/>
        </p:nvSpPr>
        <p:spPr>
          <a:xfrm>
            <a:off x="7726680" y="5696712"/>
            <a:ext cx="50292" cy="237744"/>
          </a:xfrm>
          <a:prstGeom prst="rect">
            <a:avLst/>
          </a:prstGeom>
          <a:solidFill>
            <a:srgbClr val="F4A620"/>
          </a:solidFill>
          <a:ln w="12700">
            <a:solidFill>
              <a:srgbClr val="F4A620"/>
            </a:solidFill>
            <a:prstDash val="solid"/>
          </a:ln>
        </p:spPr>
      </p:sp>
      <p:sp>
        <p:nvSpPr>
          <p:cNvPr id="94" name="Text 88"/>
          <p:cNvSpPr/>
          <p:nvPr/>
        </p:nvSpPr>
        <p:spPr>
          <a:xfrm>
            <a:off x="7818120" y="5696712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ARCHETYPE DISTRIBUTION</a:t>
            </a:r>
            <a:endParaRPr lang="en-US" sz="900" dirty="0"/>
          </a:p>
        </p:txBody>
      </p:sp>
      <p:graphicFrame>
        <p:nvGraphicFramePr>
          <p:cNvPr id="95" name="Chart 0" descr=""/>
          <p:cNvGraphicFramePr/>
          <p:nvPr/>
        </p:nvGraphicFramePr>
        <p:xfrm>
          <a:off x="7726680" y="5971032"/>
          <a:ext cx="4251960" cy="5669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6" name="Text 89"/>
          <p:cNvSpPr/>
          <p:nvPr/>
        </p:nvSpPr>
        <p:spPr>
          <a:xfrm>
            <a:off x="7726680" y="6601968"/>
            <a:ext cx="4251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Refs: Celebi et al. (2013)  •  Lutz (2012)  •  Quealy &amp; Carter (2013) NYT  •  Data: Pro Football Reference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2026-03-06T17:28:08Z</dcterms:created>
  <dcterms:modified xsi:type="dcterms:W3CDTF">2026-03-06T17:28:08Z</dcterms:modified>
</cp:coreProperties>
</file>