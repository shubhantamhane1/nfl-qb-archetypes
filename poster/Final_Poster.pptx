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918400" cy="21945600"/>
  <p:notesSz cx="21945600" cy="3291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627"/>
    <p:restoredTop sz="94610"/>
  </p:normalViewPr>
  <p:slideViewPr>
    <p:cSldViewPr snapToGrid="0" snapToObjects="1">
      <p:cViewPr varScale="1">
        <p:scale>
          <a:sx n="29" d="100"/>
          <a:sy n="29" d="100"/>
        </p:scale>
        <p:origin x="65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F4E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6B1-7F4B-B0D9-15C3C3913BA0}"/>
              </c:ext>
            </c:extLst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6B1-7F4B-B0D9-15C3C3913BA0}"/>
              </c:ext>
            </c:extLst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6B1-7F4B-B0D9-15C3C3913BA0}"/>
              </c:ext>
            </c:extLst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6B1-7F4B-B0D9-15C3C3913BA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0" i="0" u="none" strike="noStrike">
                    <a:solidFill>
                      <a:srgbClr val="1C1C1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Pocket Passer</c:v>
                </c:pt>
                <c:pt idx="1">
                  <c:v>Game Manager</c:v>
                </c:pt>
                <c:pt idx="2">
                  <c:v>Gunslinger</c:v>
                </c:pt>
                <c:pt idx="3">
                  <c:v>Dual Threat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48</c:v>
                </c:pt>
                <c:pt idx="2">
                  <c:v>47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6B1-7F4B-B0D9-15C3C3913B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730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0" cy="2468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468880"/>
            <a:ext cx="32918400" cy="137160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2468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Identifying NFL Quarterback Archetypes via K-Means Clustering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2468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BF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Shubhan Tamhane  </a:t>
            </a:r>
            <a:r>
              <a:rPr lang="en-US" sz="2600" dirty="0">
                <a:solidFill>
                  <a:srgbClr val="BF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Undergraduate Data Science Student  |  University of Connecticut  |  Spring 2026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28600" y="2743200"/>
            <a:ext cx="8595360" cy="18928080"/>
          </a:xfrm>
          <a:prstGeom prst="rect">
            <a:avLst/>
          </a:prstGeom>
          <a:solidFill>
            <a:srgbClr val="FFFFFF"/>
          </a:solidFill>
          <a:ln w="25400">
            <a:solidFill>
              <a:srgbClr val="C8D6E5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r>
              <a:rPr lang="en-US" dirty="0"/>
              <a:t>dd</a:t>
            </a:r>
          </a:p>
        </p:txBody>
      </p:sp>
      <p:sp>
        <p:nvSpPr>
          <p:cNvPr id="9" name="Shape 7"/>
          <p:cNvSpPr/>
          <p:nvPr/>
        </p:nvSpPr>
        <p:spPr>
          <a:xfrm>
            <a:off x="8833104" y="2816352"/>
            <a:ext cx="10972800" cy="18928080"/>
          </a:xfrm>
          <a:prstGeom prst="rect">
            <a:avLst/>
          </a:prstGeom>
          <a:solidFill>
            <a:srgbClr val="FFFFFF"/>
          </a:solidFill>
          <a:ln w="25400">
            <a:solidFill>
              <a:srgbClr val="C8D6E5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253960" y="2743200"/>
            <a:ext cx="12435840" cy="18928080"/>
          </a:xfrm>
          <a:prstGeom prst="rect">
            <a:avLst/>
          </a:prstGeom>
          <a:solidFill>
            <a:srgbClr val="FFFFFF"/>
          </a:solidFill>
          <a:ln w="25400">
            <a:solidFill>
              <a:srgbClr val="C8D6E5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999232"/>
            <a:ext cx="813816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999232"/>
            <a:ext cx="128016" cy="658368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999232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</a:rPr>
              <a:t>ABSTRACT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3776472"/>
            <a:ext cx="7955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QB metrics like passer rating collapse multidimensional playing styles into a single value. This study asks: Can K-means clustering identify distinct, interpretable archetypes from NFL performance?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457200" y="5696712"/>
            <a:ext cx="813816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5696712"/>
            <a:ext cx="128016" cy="658368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5696712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48640" y="6473952"/>
            <a:ext cx="2560320" cy="1463040"/>
          </a:xfrm>
          <a:prstGeom prst="rect">
            <a:avLst/>
          </a:prstGeom>
          <a:solidFill>
            <a:srgbClr val="EBF3FB"/>
          </a:solidFill>
          <a:ln w="1270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656539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204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548640" y="73883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QB-Seasons</a:t>
            </a:r>
            <a:endParaRPr lang="en-US" sz="2000" b="1" dirty="0"/>
          </a:p>
        </p:txBody>
      </p:sp>
      <p:sp>
        <p:nvSpPr>
          <p:cNvPr id="21" name="Shape 19"/>
          <p:cNvSpPr/>
          <p:nvPr/>
        </p:nvSpPr>
        <p:spPr>
          <a:xfrm>
            <a:off x="3291840" y="6473952"/>
            <a:ext cx="2560320" cy="1463040"/>
          </a:xfrm>
          <a:prstGeom prst="rect">
            <a:avLst/>
          </a:prstGeom>
          <a:solidFill>
            <a:srgbClr val="EBF3FB"/>
          </a:solidFill>
          <a:ln w="1270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91840" y="656539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2019–24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3291840" y="73883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NFL Seasons</a:t>
            </a:r>
            <a:endParaRPr lang="en-US" sz="2000" b="1" dirty="0"/>
          </a:p>
        </p:txBody>
      </p:sp>
      <p:sp>
        <p:nvSpPr>
          <p:cNvPr id="24" name="Shape 22"/>
          <p:cNvSpPr/>
          <p:nvPr/>
        </p:nvSpPr>
        <p:spPr>
          <a:xfrm>
            <a:off x="6035040" y="6473952"/>
            <a:ext cx="2560320" cy="1463040"/>
          </a:xfrm>
          <a:prstGeom prst="rect">
            <a:avLst/>
          </a:prstGeom>
          <a:solidFill>
            <a:srgbClr val="EBF3FB"/>
          </a:solidFill>
          <a:ln w="1270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35040" y="656539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≥100/20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035040" y="73883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Pass/Rush Att.</a:t>
            </a:r>
            <a:endParaRPr lang="en-US" sz="2000" b="1" dirty="0"/>
          </a:p>
        </p:txBody>
      </p:sp>
      <p:sp>
        <p:nvSpPr>
          <p:cNvPr id="27" name="Text 25"/>
          <p:cNvSpPr/>
          <p:nvPr/>
        </p:nvSpPr>
        <p:spPr>
          <a:xfrm>
            <a:off x="548640" y="8074152"/>
            <a:ext cx="7955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Pro Football Reference. Merged passing &amp; rushing season stats; mid-season trades handled via totals rows. Missing QBR imputed with mean; longest rush with median.</a:t>
            </a:r>
            <a:endParaRPr lang="en-US" sz="2500" dirty="0"/>
          </a:p>
        </p:txBody>
      </p:sp>
      <p:sp>
        <p:nvSpPr>
          <p:cNvPr id="32" name="Text 30"/>
          <p:cNvSpPr/>
          <p:nvPr/>
        </p:nvSpPr>
        <p:spPr>
          <a:xfrm>
            <a:off x="548640" y="10287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48640" y="12371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48640" y="13066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468352" y="16930116"/>
            <a:ext cx="813816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68352" y="16930116"/>
            <a:ext cx="128016" cy="658368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59792" y="17707356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2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ANOVA tests significant (p &lt; 0.001) — clusters are statistically real.</a:t>
            </a:r>
            <a:endParaRPr lang="en-US" sz="2500" dirty="0"/>
          </a:p>
        </p:txBody>
      </p:sp>
      <p:sp>
        <p:nvSpPr>
          <p:cNvPr id="50" name="Text 48"/>
          <p:cNvSpPr/>
          <p:nvPr/>
        </p:nvSpPr>
        <p:spPr>
          <a:xfrm>
            <a:off x="514072" y="18603468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2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Passers and Dual Threats have similar QBR, efficiency achieved via different styles.</a:t>
            </a:r>
            <a:endParaRPr lang="en-US" sz="2500" dirty="0"/>
          </a:p>
        </p:txBody>
      </p:sp>
      <p:sp>
        <p:nvSpPr>
          <p:cNvPr id="51" name="Text 49"/>
          <p:cNvSpPr/>
          <p:nvPr/>
        </p:nvSpPr>
        <p:spPr>
          <a:xfrm>
            <a:off x="514072" y="1954530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2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Archetypes exist on a continuum; moderate boundary overlap is expected.</a:t>
            </a:r>
            <a:endParaRPr lang="en-US" sz="2500" dirty="0"/>
          </a:p>
        </p:txBody>
      </p:sp>
      <p:sp>
        <p:nvSpPr>
          <p:cNvPr id="52" name="Text 50"/>
          <p:cNvSpPr/>
          <p:nvPr/>
        </p:nvSpPr>
        <p:spPr>
          <a:xfrm>
            <a:off x="514072" y="20304252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2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within-career style evolution; Next gen stats</a:t>
            </a:r>
            <a:endParaRPr lang="en-US" sz="2500" dirty="0"/>
          </a:p>
        </p:txBody>
      </p:sp>
      <p:sp>
        <p:nvSpPr>
          <p:cNvPr id="55" name="Text 53"/>
          <p:cNvSpPr/>
          <p:nvPr/>
        </p:nvSpPr>
        <p:spPr>
          <a:xfrm>
            <a:off x="21282660" y="18114264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&amp; REPRODUCIBILITY</a:t>
            </a:r>
            <a:endParaRPr lang="en-US" sz="2200" dirty="0"/>
          </a:p>
        </p:txBody>
      </p:sp>
      <p:sp>
        <p:nvSpPr>
          <p:cNvPr id="57" name="Text 54"/>
          <p:cNvSpPr/>
          <p:nvPr/>
        </p:nvSpPr>
        <p:spPr>
          <a:xfrm>
            <a:off x="23463504" y="18370296"/>
            <a:ext cx="5394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github.com/ShubhanTamhane1/
nfl-qb-archetypes</a:t>
            </a:r>
            <a:r>
              <a:rPr lang="en-US" sz="17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source code, notebook, and data pipeline</a:t>
            </a:r>
            <a:r>
              <a:rPr lang="en-US" sz="16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58" name="Shape 55"/>
          <p:cNvSpPr/>
          <p:nvPr/>
        </p:nvSpPr>
        <p:spPr>
          <a:xfrm>
            <a:off x="9281160" y="2999232"/>
            <a:ext cx="105156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9281160" y="2999232"/>
            <a:ext cx="128016" cy="658368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9509760" y="2999232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QB CLUSTERS IN PCA SPACE</a:t>
            </a:r>
            <a:endParaRPr lang="en-US" sz="2200" dirty="0"/>
          </a:p>
        </p:txBody>
      </p:sp>
      <p:sp>
        <p:nvSpPr>
          <p:cNvPr id="62" name="Text 58"/>
          <p:cNvSpPr/>
          <p:nvPr/>
        </p:nvSpPr>
        <p:spPr>
          <a:xfrm>
            <a:off x="9281160" y="10497312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(38.0% variance) separates high-volume passers from limited starters. PC2 (17.2% variance) isolates rushing-dominant players. Dual Threat QBs form a visually distinct cluster at high PC2 values.</a:t>
            </a:r>
            <a:endParaRPr lang="en-US" sz="1900" dirty="0"/>
          </a:p>
        </p:txBody>
      </p:sp>
      <p:sp>
        <p:nvSpPr>
          <p:cNvPr id="63" name="Shape 59"/>
          <p:cNvSpPr/>
          <p:nvPr/>
        </p:nvSpPr>
        <p:spPr>
          <a:xfrm>
            <a:off x="9061704" y="11713464"/>
            <a:ext cx="105156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0"/>
          <p:cNvSpPr/>
          <p:nvPr/>
        </p:nvSpPr>
        <p:spPr>
          <a:xfrm>
            <a:off x="9061704" y="11713464"/>
            <a:ext cx="128016" cy="658368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1"/>
          <p:cNvSpPr/>
          <p:nvPr/>
        </p:nvSpPr>
        <p:spPr>
          <a:xfrm>
            <a:off x="9290304" y="11713464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 MEANS (KEY METRICS)</a:t>
            </a:r>
            <a:endParaRPr lang="en-US" sz="22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658536"/>
              </p:ext>
            </p:extLst>
          </p:nvPr>
        </p:nvGraphicFramePr>
        <p:xfrm>
          <a:off x="9006840" y="12487221"/>
          <a:ext cx="11064240" cy="34290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Archetype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Yds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(pass)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QBR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Rush Yds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Rush TD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A3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🔵 Pocket Passer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4,102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7B3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 Game Manager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1,475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Gunslinger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2,903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7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Dual Threat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3,430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7" name="Shape 62"/>
          <p:cNvSpPr/>
          <p:nvPr/>
        </p:nvSpPr>
        <p:spPr>
          <a:xfrm>
            <a:off x="9281160" y="16166592"/>
            <a:ext cx="105156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3"/>
          <p:cNvSpPr/>
          <p:nvPr/>
        </p:nvSpPr>
        <p:spPr>
          <a:xfrm>
            <a:off x="9281160" y="16166592"/>
            <a:ext cx="128016" cy="658368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4"/>
          <p:cNvSpPr/>
          <p:nvPr/>
        </p:nvSpPr>
        <p:spPr>
          <a:xfrm>
            <a:off x="9509760" y="16166592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PLAYERS PER ARCHETYPE</a:t>
            </a:r>
            <a:endParaRPr lang="en-US" sz="2200" dirty="0"/>
          </a:p>
        </p:txBody>
      </p:sp>
      <p:sp>
        <p:nvSpPr>
          <p:cNvPr id="70" name="Shape 65"/>
          <p:cNvSpPr/>
          <p:nvPr/>
        </p:nvSpPr>
        <p:spPr>
          <a:xfrm>
            <a:off x="9281160" y="16943832"/>
            <a:ext cx="10515600" cy="713232"/>
          </a:xfrm>
          <a:prstGeom prst="rect">
            <a:avLst/>
          </a:prstGeom>
          <a:solidFill>
            <a:srgbClr val="EBF1FF"/>
          </a:solidFill>
          <a:ln w="12700">
            <a:solidFill>
              <a:srgbClr val="1A3A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6"/>
          <p:cNvSpPr/>
          <p:nvPr/>
        </p:nvSpPr>
        <p:spPr>
          <a:xfrm>
            <a:off x="9281160" y="16943832"/>
            <a:ext cx="128016" cy="713232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7"/>
          <p:cNvSpPr/>
          <p:nvPr/>
        </p:nvSpPr>
        <p:spPr>
          <a:xfrm>
            <a:off x="9509760" y="16943832"/>
            <a:ext cx="10195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Passer:  </a:t>
            </a:r>
            <a:r>
              <a:rPr lang="en-US" sz="2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 Mahomes (KC), Dak Prescott (DAL), Joe Burrow (CIN), Tom Brady (NE)</a:t>
            </a:r>
            <a:endParaRPr lang="en-US" sz="2000" dirty="0"/>
          </a:p>
        </p:txBody>
      </p:sp>
      <p:sp>
        <p:nvSpPr>
          <p:cNvPr id="73" name="Shape 68"/>
          <p:cNvSpPr/>
          <p:nvPr/>
        </p:nvSpPr>
        <p:spPr>
          <a:xfrm>
            <a:off x="9281160" y="17693640"/>
            <a:ext cx="10515600" cy="713232"/>
          </a:xfrm>
          <a:prstGeom prst="rect">
            <a:avLst/>
          </a:prstGeom>
          <a:solidFill>
            <a:srgbClr val="FEF3E2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69"/>
          <p:cNvSpPr/>
          <p:nvPr/>
        </p:nvSpPr>
        <p:spPr>
          <a:xfrm>
            <a:off x="9281160" y="17693640"/>
            <a:ext cx="128016" cy="713232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0"/>
          <p:cNvSpPr/>
          <p:nvPr/>
        </p:nvSpPr>
        <p:spPr>
          <a:xfrm>
            <a:off x="9509760" y="17693640"/>
            <a:ext cx="10195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Manager:  </a:t>
            </a:r>
            <a:r>
              <a:rPr lang="en-US" sz="2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Jones (NE), Devlin Hodges (PIT) , Early Jalen Hurts (2020, PHI)</a:t>
            </a:r>
            <a:endParaRPr lang="en-US" sz="2000" dirty="0"/>
          </a:p>
        </p:txBody>
      </p:sp>
      <p:sp>
        <p:nvSpPr>
          <p:cNvPr id="76" name="Shape 71"/>
          <p:cNvSpPr/>
          <p:nvPr/>
        </p:nvSpPr>
        <p:spPr>
          <a:xfrm>
            <a:off x="9281160" y="18443448"/>
            <a:ext cx="1051560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2"/>
          <p:cNvSpPr/>
          <p:nvPr/>
        </p:nvSpPr>
        <p:spPr>
          <a:xfrm>
            <a:off x="9281160" y="18443448"/>
            <a:ext cx="128016" cy="7132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3"/>
          <p:cNvSpPr/>
          <p:nvPr/>
        </p:nvSpPr>
        <p:spPr>
          <a:xfrm>
            <a:off x="9509760" y="18443448"/>
            <a:ext cx="10195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Gunslinger:  </a:t>
            </a:r>
            <a:r>
              <a:rPr lang="en-US" sz="2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Herbert (LAC), Taylor Heinicke (WAS) , Sam Howell (WAS) , Josh Johnson (DEN)</a:t>
            </a:r>
            <a:endParaRPr lang="en-US" sz="2000" dirty="0"/>
          </a:p>
        </p:txBody>
      </p:sp>
      <p:sp>
        <p:nvSpPr>
          <p:cNvPr id="79" name="Shape 74"/>
          <p:cNvSpPr/>
          <p:nvPr/>
        </p:nvSpPr>
        <p:spPr>
          <a:xfrm>
            <a:off x="9281160" y="19193256"/>
            <a:ext cx="10515600" cy="713232"/>
          </a:xfrm>
          <a:prstGeom prst="rect">
            <a:avLst/>
          </a:prstGeom>
          <a:solidFill>
            <a:srgbClr val="FFEBEE"/>
          </a:solidFill>
          <a:ln w="12700">
            <a:solidFill>
              <a:srgbClr val="7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5"/>
          <p:cNvSpPr/>
          <p:nvPr/>
        </p:nvSpPr>
        <p:spPr>
          <a:xfrm>
            <a:off x="9281160" y="19193256"/>
            <a:ext cx="128016" cy="713232"/>
          </a:xfrm>
          <a:prstGeom prst="rect">
            <a:avLst/>
          </a:prstGeom>
          <a:solidFill>
            <a:srgbClr val="7B0000"/>
          </a:solidFill>
          <a:ln w="12700">
            <a:solidFill>
              <a:srgbClr val="7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6"/>
          <p:cNvSpPr/>
          <p:nvPr/>
        </p:nvSpPr>
        <p:spPr>
          <a:xfrm>
            <a:off x="9509760" y="19193256"/>
            <a:ext cx="10195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Threat:  </a:t>
            </a:r>
            <a:r>
              <a:rPr lang="en-US" sz="2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Lamar Jackson (BAL) , Kyler Murray (ARI) , Josh Allen (BUF) , Jalen Hurts (PHI)</a:t>
            </a:r>
            <a:endParaRPr lang="en-US" sz="2000" dirty="0"/>
          </a:p>
        </p:txBody>
      </p:sp>
      <p:sp>
        <p:nvSpPr>
          <p:cNvPr id="82" name="Shape 77"/>
          <p:cNvSpPr/>
          <p:nvPr/>
        </p:nvSpPr>
        <p:spPr>
          <a:xfrm>
            <a:off x="20436840" y="3023616"/>
            <a:ext cx="1197864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78"/>
          <p:cNvSpPr/>
          <p:nvPr/>
        </p:nvSpPr>
        <p:spPr>
          <a:xfrm>
            <a:off x="20436840" y="3023616"/>
            <a:ext cx="128016" cy="658368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79"/>
          <p:cNvSpPr/>
          <p:nvPr/>
        </p:nvSpPr>
        <p:spPr>
          <a:xfrm>
            <a:off x="20711160" y="2999232"/>
            <a:ext cx="1175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STATISTICAL VALIDATION</a:t>
            </a:r>
            <a:endParaRPr lang="en-US" sz="2200" dirty="0"/>
          </a:p>
        </p:txBody>
      </p:sp>
      <p:sp>
        <p:nvSpPr>
          <p:cNvPr id="85" name="Shape 80"/>
          <p:cNvSpPr/>
          <p:nvPr/>
        </p:nvSpPr>
        <p:spPr>
          <a:xfrm>
            <a:off x="20482560" y="3776472"/>
            <a:ext cx="11978640" cy="1737360"/>
          </a:xfrm>
          <a:prstGeom prst="rect">
            <a:avLst/>
          </a:prstGeom>
          <a:solidFill>
            <a:srgbClr val="EAF4EA"/>
          </a:solidFill>
          <a:ln w="254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1"/>
          <p:cNvSpPr/>
          <p:nvPr/>
        </p:nvSpPr>
        <p:spPr>
          <a:xfrm>
            <a:off x="20619720" y="3849624"/>
            <a:ext cx="11612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/ 10  </a:t>
            </a:r>
            <a:r>
              <a:rPr lang="en-US" sz="22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statistically significant</a:t>
            </a:r>
            <a:endParaRPr lang="en-US" sz="4400" dirty="0"/>
          </a:p>
          <a:p>
            <a:pPr marL="0" indent="0">
              <a:buNone/>
            </a:pPr>
            <a:r>
              <a:rPr lang="en-US" sz="22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 one-way ANOVA (all p &lt; 0.001)</a:t>
            </a:r>
            <a:endParaRPr lang="en-US" sz="4400" dirty="0"/>
          </a:p>
        </p:txBody>
      </p:sp>
      <p:sp>
        <p:nvSpPr>
          <p:cNvPr id="87" name="Text 82"/>
          <p:cNvSpPr/>
          <p:nvPr/>
        </p:nvSpPr>
        <p:spPr>
          <a:xfrm>
            <a:off x="20619720" y="4965192"/>
            <a:ext cx="11612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at k=4: 0.208  |  Elbow + silhouette both confirmed k=4  |  Tukey HSD run on all 10 metrics</a:t>
            </a:r>
            <a:endParaRPr lang="en-US" sz="2100" dirty="0"/>
          </a:p>
        </p:txBody>
      </p:sp>
      <p:sp>
        <p:nvSpPr>
          <p:cNvPr id="90" name="Text 85"/>
          <p:cNvSpPr/>
          <p:nvPr/>
        </p:nvSpPr>
        <p:spPr>
          <a:xfrm>
            <a:off x="20711160" y="5650992"/>
            <a:ext cx="1175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TUKEY HSD POST-HOC RESULTS (QBR)</a:t>
            </a:r>
            <a:endParaRPr lang="en-US" sz="2200" dirty="0"/>
          </a:p>
        </p:txBody>
      </p:sp>
      <p:sp>
        <p:nvSpPr>
          <p:cNvPr id="92" name="Shape 86"/>
          <p:cNvSpPr/>
          <p:nvPr/>
        </p:nvSpPr>
        <p:spPr>
          <a:xfrm>
            <a:off x="20482560" y="10725912"/>
            <a:ext cx="11978640" cy="2011680"/>
          </a:xfrm>
          <a:prstGeom prst="rect">
            <a:avLst/>
          </a:prstGeom>
          <a:solidFill>
            <a:srgbClr val="FFF8E1"/>
          </a:solidFill>
          <a:ln w="254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87"/>
          <p:cNvSpPr/>
          <p:nvPr/>
        </p:nvSpPr>
        <p:spPr>
          <a:xfrm>
            <a:off x="20619720" y="10817352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5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Key Finding</a:t>
            </a:r>
            <a:endParaRPr lang="en-US" sz="2200" dirty="0"/>
          </a:p>
        </p:txBody>
      </p:sp>
      <p:sp>
        <p:nvSpPr>
          <p:cNvPr id="94" name="Text 88"/>
          <p:cNvSpPr/>
          <p:nvPr/>
        </p:nvSpPr>
        <p:spPr>
          <a:xfrm>
            <a:off x="20619720" y="11292840"/>
            <a:ext cx="11612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Passers and Dual Threats show no significant difference in QBR (p = 0.9439), despite radically different playing styles, elite efficiency is achievable through passing volume or rushing dominance equally.</a:t>
            </a:r>
            <a:endParaRPr lang="en-US" sz="2500" dirty="0"/>
          </a:p>
        </p:txBody>
      </p:sp>
      <p:sp>
        <p:nvSpPr>
          <p:cNvPr id="95" name="Shape 89"/>
          <p:cNvSpPr/>
          <p:nvPr/>
        </p:nvSpPr>
        <p:spPr>
          <a:xfrm>
            <a:off x="20601432" y="12865608"/>
            <a:ext cx="1197864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0"/>
          <p:cNvSpPr/>
          <p:nvPr/>
        </p:nvSpPr>
        <p:spPr>
          <a:xfrm>
            <a:off x="20601432" y="12865608"/>
            <a:ext cx="128016" cy="658368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1"/>
          <p:cNvSpPr/>
          <p:nvPr/>
        </p:nvSpPr>
        <p:spPr>
          <a:xfrm>
            <a:off x="20830032" y="12865608"/>
            <a:ext cx="1175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ARCHETYPE DISTRIBUTION</a:t>
            </a:r>
            <a:endParaRPr lang="en-US" sz="2200" dirty="0"/>
          </a:p>
        </p:txBody>
      </p:sp>
      <p:graphicFrame>
        <p:nvGraphicFramePr>
          <p:cNvPr id="98" name="Chart 0"/>
          <p:cNvGraphicFramePr/>
          <p:nvPr>
            <p:extLst>
              <p:ext uri="{D42A27DB-BD31-4B8C-83A1-F6EECF244321}">
                <p14:modId xmlns:p14="http://schemas.microsoft.com/office/powerpoint/2010/main" val="307877449"/>
              </p:ext>
            </p:extLst>
          </p:nvPr>
        </p:nvGraphicFramePr>
        <p:xfrm>
          <a:off x="20601432" y="13642848"/>
          <a:ext cx="11978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9" name="Text 92"/>
          <p:cNvSpPr/>
          <p:nvPr/>
        </p:nvSpPr>
        <p:spPr>
          <a:xfrm>
            <a:off x="20570952" y="20855866"/>
            <a:ext cx="1197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Celebi et al. (2013) Expert Syst. Appl. 40:200–210  •  Lutz (2012) J. Quant. Anal. Sports 8  •  Quealy &amp; Carter (2013) NYT  •  Data: Pro Football Reference (pfr.com)</a:t>
            </a:r>
            <a:endParaRPr lang="en-US" sz="1600" dirty="0"/>
          </a:p>
        </p:txBody>
      </p:sp>
      <p:pic>
        <p:nvPicPr>
          <p:cNvPr id="101" name="Picture 100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A256B1CB-1CAB-4D67-F704-C48497C3F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66280" y="18114264"/>
            <a:ext cx="2724912" cy="2724912"/>
          </a:xfrm>
          <a:prstGeom prst="rect">
            <a:avLst/>
          </a:prstGeom>
        </p:spPr>
      </p:pic>
      <p:pic>
        <p:nvPicPr>
          <p:cNvPr id="102" name="Picture 10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521B27D-88BB-230F-9928-D2B2C22693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53960" y="5395853"/>
            <a:ext cx="12043264" cy="5394067"/>
          </a:xfrm>
          <a:prstGeom prst="rect">
            <a:avLst/>
          </a:prstGeom>
        </p:spPr>
      </p:pic>
      <p:pic>
        <p:nvPicPr>
          <p:cNvPr id="104" name="Picture 103" descr="A diagram of a number of clusters&#10;&#10;AI-generated content may be incorrect.">
            <a:extLst>
              <a:ext uri="{FF2B5EF4-FFF2-40B4-BE49-F238E27FC236}">
                <a16:creationId xmlns:a16="http://schemas.microsoft.com/office/drawing/2014/main" id="{30358F56-129A-2CA0-CD70-E943061F04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7662" y="3794760"/>
            <a:ext cx="9662595" cy="6857612"/>
          </a:xfrm>
          <a:prstGeom prst="rect">
            <a:avLst/>
          </a:prstGeom>
        </p:spPr>
      </p:pic>
      <p:sp>
        <p:nvSpPr>
          <p:cNvPr id="107" name="Shape 77">
            <a:extLst>
              <a:ext uri="{FF2B5EF4-FFF2-40B4-BE49-F238E27FC236}">
                <a16:creationId xmlns:a16="http://schemas.microsoft.com/office/drawing/2014/main" id="{4E7C0029-F861-1FB6-B4EB-ADD196C74034}"/>
              </a:ext>
            </a:extLst>
          </p:cNvPr>
          <p:cNvSpPr/>
          <p:nvPr/>
        </p:nvSpPr>
        <p:spPr>
          <a:xfrm>
            <a:off x="20711160" y="17300448"/>
            <a:ext cx="1197864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r>
              <a:rPr lang="en-US" sz="2200" b="1" dirty="0">
                <a:solidFill>
                  <a:schemeClr val="bg1"/>
                </a:solidFill>
                <a:latin typeface="Trebuchet MS" panose="020B0703020202090204" pitchFamily="34" charset="0"/>
              </a:rPr>
              <a:t>CODE AND REPRODUCIBILITY</a:t>
            </a:r>
          </a:p>
        </p:txBody>
      </p:sp>
      <p:sp>
        <p:nvSpPr>
          <p:cNvPr id="108" name="Shape 78">
            <a:extLst>
              <a:ext uri="{FF2B5EF4-FFF2-40B4-BE49-F238E27FC236}">
                <a16:creationId xmlns:a16="http://schemas.microsoft.com/office/drawing/2014/main" id="{8546B00F-F9A4-3194-CF84-E3290EFA5902}"/>
              </a:ext>
            </a:extLst>
          </p:cNvPr>
          <p:cNvSpPr/>
          <p:nvPr/>
        </p:nvSpPr>
        <p:spPr>
          <a:xfrm>
            <a:off x="20564856" y="17314164"/>
            <a:ext cx="128016" cy="658368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16">
            <a:extLst>
              <a:ext uri="{FF2B5EF4-FFF2-40B4-BE49-F238E27FC236}">
                <a16:creationId xmlns:a16="http://schemas.microsoft.com/office/drawing/2014/main" id="{0385581F-94E1-598F-9089-4610132934D8}"/>
              </a:ext>
            </a:extLst>
          </p:cNvPr>
          <p:cNvSpPr/>
          <p:nvPr/>
        </p:nvSpPr>
        <p:spPr>
          <a:xfrm>
            <a:off x="645958" y="9555480"/>
            <a:ext cx="2560320" cy="1463040"/>
          </a:xfrm>
          <a:prstGeom prst="rect">
            <a:avLst/>
          </a:prstGeom>
          <a:solidFill>
            <a:srgbClr val="EBF3FB"/>
          </a:solidFill>
          <a:ln w="1270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33E824A-034A-940C-B2C3-FCF7CA4861AD}"/>
              </a:ext>
            </a:extLst>
          </p:cNvPr>
          <p:cNvSpPr txBox="1"/>
          <p:nvPr/>
        </p:nvSpPr>
        <p:spPr>
          <a:xfrm>
            <a:off x="685800" y="9760101"/>
            <a:ext cx="260604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Raw NFL Data</a:t>
            </a:r>
          </a:p>
          <a:p>
            <a:r>
              <a:rPr lang="en-US" sz="2500" dirty="0"/>
              <a:t>Passing + Rushing</a:t>
            </a:r>
          </a:p>
          <a:p>
            <a:r>
              <a:rPr lang="en-US" sz="2500" dirty="0"/>
              <a:t> (2019-2024)</a:t>
            </a:r>
          </a:p>
        </p:txBody>
      </p:sp>
      <p:sp>
        <p:nvSpPr>
          <p:cNvPr id="89" name="Shape 16">
            <a:extLst>
              <a:ext uri="{FF2B5EF4-FFF2-40B4-BE49-F238E27FC236}">
                <a16:creationId xmlns:a16="http://schemas.microsoft.com/office/drawing/2014/main" id="{2BF20B13-7EE3-47FC-5617-C082CF3B1F79}"/>
              </a:ext>
            </a:extLst>
          </p:cNvPr>
          <p:cNvSpPr/>
          <p:nvPr/>
        </p:nvSpPr>
        <p:spPr>
          <a:xfrm>
            <a:off x="4206240" y="9509760"/>
            <a:ext cx="2560320" cy="1463040"/>
          </a:xfrm>
          <a:prstGeom prst="rect">
            <a:avLst/>
          </a:prstGeom>
          <a:solidFill>
            <a:srgbClr val="EBF3FB"/>
          </a:solidFill>
          <a:ln w="1270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9146635-15A9-8FED-E8FE-642B182919A7}"/>
              </a:ext>
            </a:extLst>
          </p:cNvPr>
          <p:cNvSpPr txBox="1"/>
          <p:nvPr/>
        </p:nvSpPr>
        <p:spPr>
          <a:xfrm>
            <a:off x="4206240" y="9670611"/>
            <a:ext cx="256032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Preprocessing </a:t>
            </a:r>
          </a:p>
          <a:p>
            <a:r>
              <a:rPr lang="en-US" sz="2500" dirty="0"/>
              <a:t>Filter + Merge</a:t>
            </a:r>
          </a:p>
          <a:p>
            <a:r>
              <a:rPr lang="en-US" sz="2500" dirty="0"/>
              <a:t>Impute Missing </a:t>
            </a:r>
          </a:p>
        </p:txBody>
      </p:sp>
      <p:sp>
        <p:nvSpPr>
          <p:cNvPr id="100" name="Shape 16">
            <a:extLst>
              <a:ext uri="{FF2B5EF4-FFF2-40B4-BE49-F238E27FC236}">
                <a16:creationId xmlns:a16="http://schemas.microsoft.com/office/drawing/2014/main" id="{4DACC9F1-CF7A-1E65-8B4C-1FBF2D4F11F4}"/>
              </a:ext>
            </a:extLst>
          </p:cNvPr>
          <p:cNvSpPr/>
          <p:nvPr/>
        </p:nvSpPr>
        <p:spPr>
          <a:xfrm>
            <a:off x="4194532" y="11274552"/>
            <a:ext cx="2560320" cy="1463040"/>
          </a:xfrm>
          <a:prstGeom prst="rect">
            <a:avLst/>
          </a:prstGeom>
          <a:solidFill>
            <a:srgbClr val="EBF3FB"/>
          </a:solidFill>
          <a:ln w="12700">
            <a:solidFill>
              <a:srgbClr val="C8D6E5"/>
            </a:solidFill>
            <a:prstDash val="solid"/>
          </a:ln>
        </p:spPr>
        <p:txBody>
          <a:bodyPr/>
          <a:lstStyle/>
          <a:p>
            <a:r>
              <a:rPr lang="en-US" sz="2500" dirty="0"/>
              <a:t>PCA</a:t>
            </a:r>
          </a:p>
          <a:p>
            <a:r>
              <a:rPr lang="en-US" sz="2500" dirty="0"/>
              <a:t>10 Principal Components </a:t>
            </a:r>
          </a:p>
        </p:txBody>
      </p:sp>
      <p:sp>
        <p:nvSpPr>
          <p:cNvPr id="103" name="Shape 16">
            <a:extLst>
              <a:ext uri="{FF2B5EF4-FFF2-40B4-BE49-F238E27FC236}">
                <a16:creationId xmlns:a16="http://schemas.microsoft.com/office/drawing/2014/main" id="{AFD2841B-CC65-0D01-FB7E-17D2B371B9C7}"/>
              </a:ext>
            </a:extLst>
          </p:cNvPr>
          <p:cNvSpPr/>
          <p:nvPr/>
        </p:nvSpPr>
        <p:spPr>
          <a:xfrm>
            <a:off x="596368" y="11338560"/>
            <a:ext cx="2560320" cy="1463040"/>
          </a:xfrm>
          <a:prstGeom prst="rect">
            <a:avLst/>
          </a:prstGeom>
          <a:solidFill>
            <a:srgbClr val="EBF3FB"/>
          </a:solidFill>
          <a:ln w="12700">
            <a:solidFill>
              <a:srgbClr val="C8D6E5"/>
            </a:solidFill>
            <a:prstDash val="solid"/>
          </a:ln>
        </p:spPr>
        <p:txBody>
          <a:bodyPr/>
          <a:lstStyle/>
          <a:p>
            <a:r>
              <a:rPr lang="en-US" sz="2500" dirty="0"/>
              <a:t>Standardization </a:t>
            </a:r>
          </a:p>
          <a:p>
            <a:r>
              <a:rPr lang="en-US" sz="2500" dirty="0"/>
              <a:t>Z-Score Scaling </a:t>
            </a:r>
          </a:p>
        </p:txBody>
      </p:sp>
      <p:sp>
        <p:nvSpPr>
          <p:cNvPr id="105" name="Shape 16">
            <a:extLst>
              <a:ext uri="{FF2B5EF4-FFF2-40B4-BE49-F238E27FC236}">
                <a16:creationId xmlns:a16="http://schemas.microsoft.com/office/drawing/2014/main" id="{5D3FA46F-C9EB-4DB1-C8BF-ED324A7A5099}"/>
              </a:ext>
            </a:extLst>
          </p:cNvPr>
          <p:cNvSpPr/>
          <p:nvPr/>
        </p:nvSpPr>
        <p:spPr>
          <a:xfrm>
            <a:off x="4206240" y="13339899"/>
            <a:ext cx="2560320" cy="1463040"/>
          </a:xfrm>
          <a:prstGeom prst="rect">
            <a:avLst/>
          </a:prstGeom>
          <a:solidFill>
            <a:srgbClr val="EBF3FB"/>
          </a:solidFill>
          <a:ln w="1270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6">
            <a:extLst>
              <a:ext uri="{FF2B5EF4-FFF2-40B4-BE49-F238E27FC236}">
                <a16:creationId xmlns:a16="http://schemas.microsoft.com/office/drawing/2014/main" id="{6F9B9FC3-7D4A-E34D-6170-478E3823D750}"/>
              </a:ext>
            </a:extLst>
          </p:cNvPr>
          <p:cNvSpPr/>
          <p:nvPr/>
        </p:nvSpPr>
        <p:spPr>
          <a:xfrm>
            <a:off x="548640" y="13345668"/>
            <a:ext cx="2560320" cy="1463040"/>
          </a:xfrm>
          <a:prstGeom prst="rect">
            <a:avLst/>
          </a:prstGeom>
          <a:solidFill>
            <a:srgbClr val="EBF3FB"/>
          </a:solidFill>
          <a:ln w="1270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6">
            <a:extLst>
              <a:ext uri="{FF2B5EF4-FFF2-40B4-BE49-F238E27FC236}">
                <a16:creationId xmlns:a16="http://schemas.microsoft.com/office/drawing/2014/main" id="{114CFE8B-E8A9-F716-6238-5E761403E42B}"/>
              </a:ext>
            </a:extLst>
          </p:cNvPr>
          <p:cNvSpPr/>
          <p:nvPr/>
        </p:nvSpPr>
        <p:spPr>
          <a:xfrm>
            <a:off x="2491740" y="14996160"/>
            <a:ext cx="3360420" cy="1723644"/>
          </a:xfrm>
          <a:prstGeom prst="rect">
            <a:avLst/>
          </a:prstGeom>
          <a:solidFill>
            <a:srgbClr val="EBF3FB"/>
          </a:solidFill>
          <a:ln w="1270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44CBE9F-66CE-A7D8-7EAA-89B7A227E4E1}"/>
              </a:ext>
            </a:extLst>
          </p:cNvPr>
          <p:cNvSpPr txBox="1"/>
          <p:nvPr/>
        </p:nvSpPr>
        <p:spPr>
          <a:xfrm>
            <a:off x="731520" y="13642848"/>
            <a:ext cx="2560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/>
              <a:t>K-Means</a:t>
            </a:r>
          </a:p>
          <a:p>
            <a:r>
              <a:rPr lang="en-US" sz="2700" dirty="0"/>
              <a:t>K =4 clusters 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36D7ADF-03F2-DAFD-CB2E-F03F4B34E16A}"/>
              </a:ext>
            </a:extLst>
          </p:cNvPr>
          <p:cNvSpPr txBox="1"/>
          <p:nvPr/>
        </p:nvSpPr>
        <p:spPr>
          <a:xfrm>
            <a:off x="4206240" y="13318236"/>
            <a:ext cx="24688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Validation </a:t>
            </a:r>
          </a:p>
          <a:p>
            <a:r>
              <a:rPr lang="en-US" sz="2500" dirty="0"/>
              <a:t>ANOVA + Tukey HSD </a:t>
            </a:r>
          </a:p>
          <a:p>
            <a:endParaRPr lang="en-US" sz="25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FE24B21-1BB4-203A-246A-99F305D0F071}"/>
              </a:ext>
            </a:extLst>
          </p:cNvPr>
          <p:cNvSpPr txBox="1"/>
          <p:nvPr/>
        </p:nvSpPr>
        <p:spPr>
          <a:xfrm>
            <a:off x="3127248" y="14949196"/>
            <a:ext cx="2889504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/>
              <a:t>QB Archetypes</a:t>
            </a:r>
          </a:p>
          <a:p>
            <a:r>
              <a:rPr lang="en-US" sz="2300" dirty="0"/>
              <a:t>Pocket Passer</a:t>
            </a:r>
          </a:p>
          <a:p>
            <a:r>
              <a:rPr lang="en-US" sz="2300" dirty="0"/>
              <a:t>Gunslinger</a:t>
            </a:r>
          </a:p>
          <a:p>
            <a:r>
              <a:rPr lang="en-US" sz="2300" dirty="0"/>
              <a:t>Dual Threat</a:t>
            </a:r>
          </a:p>
          <a:p>
            <a:r>
              <a:rPr lang="en-US" sz="2300" dirty="0"/>
              <a:t>Game Manager </a:t>
            </a:r>
          </a:p>
        </p:txBody>
      </p:sp>
      <p:sp>
        <p:nvSpPr>
          <p:cNvPr id="116" name="Right Arrow 115">
            <a:extLst>
              <a:ext uri="{FF2B5EF4-FFF2-40B4-BE49-F238E27FC236}">
                <a16:creationId xmlns:a16="http://schemas.microsoft.com/office/drawing/2014/main" id="{BDCBCBA6-EBE2-DDF5-FEF9-C357E3BA86BF}"/>
              </a:ext>
            </a:extLst>
          </p:cNvPr>
          <p:cNvSpPr/>
          <p:nvPr/>
        </p:nvSpPr>
        <p:spPr>
          <a:xfrm>
            <a:off x="3291840" y="10369296"/>
            <a:ext cx="822960" cy="1874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ight Arrow 116">
            <a:extLst>
              <a:ext uri="{FF2B5EF4-FFF2-40B4-BE49-F238E27FC236}">
                <a16:creationId xmlns:a16="http://schemas.microsoft.com/office/drawing/2014/main" id="{D3B7C93C-2FC7-ABA3-A68B-CBF86A9C2CFC}"/>
              </a:ext>
            </a:extLst>
          </p:cNvPr>
          <p:cNvSpPr/>
          <p:nvPr/>
        </p:nvSpPr>
        <p:spPr>
          <a:xfrm rot="5400000">
            <a:off x="6080760" y="11157966"/>
            <a:ext cx="822960" cy="1874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ight Arrow 117">
            <a:extLst>
              <a:ext uri="{FF2B5EF4-FFF2-40B4-BE49-F238E27FC236}">
                <a16:creationId xmlns:a16="http://schemas.microsoft.com/office/drawing/2014/main" id="{85AFFF2F-B07A-1C26-8D7D-4E822ACD2470}"/>
              </a:ext>
            </a:extLst>
          </p:cNvPr>
          <p:cNvSpPr/>
          <p:nvPr/>
        </p:nvSpPr>
        <p:spPr>
          <a:xfrm rot="5400000">
            <a:off x="2519172" y="11173968"/>
            <a:ext cx="822960" cy="1874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ight Arrow 118">
            <a:extLst>
              <a:ext uri="{FF2B5EF4-FFF2-40B4-BE49-F238E27FC236}">
                <a16:creationId xmlns:a16="http://schemas.microsoft.com/office/drawing/2014/main" id="{6D8C72F1-DB15-AD18-A611-A8624DE6A5DD}"/>
              </a:ext>
            </a:extLst>
          </p:cNvPr>
          <p:cNvSpPr/>
          <p:nvPr/>
        </p:nvSpPr>
        <p:spPr>
          <a:xfrm>
            <a:off x="3291840" y="11804904"/>
            <a:ext cx="822960" cy="1874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ight Arrow 119">
            <a:extLst>
              <a:ext uri="{FF2B5EF4-FFF2-40B4-BE49-F238E27FC236}">
                <a16:creationId xmlns:a16="http://schemas.microsoft.com/office/drawing/2014/main" id="{6C685E0D-C574-B669-CCDC-FCD5584C37BF}"/>
              </a:ext>
            </a:extLst>
          </p:cNvPr>
          <p:cNvSpPr/>
          <p:nvPr/>
        </p:nvSpPr>
        <p:spPr>
          <a:xfrm rot="5400000">
            <a:off x="5717286" y="13137642"/>
            <a:ext cx="822960" cy="1874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ight Arrow 120">
            <a:extLst>
              <a:ext uri="{FF2B5EF4-FFF2-40B4-BE49-F238E27FC236}">
                <a16:creationId xmlns:a16="http://schemas.microsoft.com/office/drawing/2014/main" id="{346C5EAE-9BA3-A7A5-9FF1-99F453658FFB}"/>
              </a:ext>
            </a:extLst>
          </p:cNvPr>
          <p:cNvSpPr/>
          <p:nvPr/>
        </p:nvSpPr>
        <p:spPr>
          <a:xfrm rot="5400000">
            <a:off x="2164080" y="13014198"/>
            <a:ext cx="822960" cy="1874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ight Arrow 121">
            <a:extLst>
              <a:ext uri="{FF2B5EF4-FFF2-40B4-BE49-F238E27FC236}">
                <a16:creationId xmlns:a16="http://schemas.microsoft.com/office/drawing/2014/main" id="{EEB36F8C-F655-8FEE-C55C-A899DA888962}"/>
              </a:ext>
            </a:extLst>
          </p:cNvPr>
          <p:cNvSpPr/>
          <p:nvPr/>
        </p:nvSpPr>
        <p:spPr>
          <a:xfrm>
            <a:off x="3291840" y="13983462"/>
            <a:ext cx="822960" cy="1874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ight Arrow 122">
            <a:extLst>
              <a:ext uri="{FF2B5EF4-FFF2-40B4-BE49-F238E27FC236}">
                <a16:creationId xmlns:a16="http://schemas.microsoft.com/office/drawing/2014/main" id="{2E37AB66-097E-382E-1564-17701FF2FB7F}"/>
              </a:ext>
            </a:extLst>
          </p:cNvPr>
          <p:cNvSpPr/>
          <p:nvPr/>
        </p:nvSpPr>
        <p:spPr>
          <a:xfrm rot="2526017">
            <a:off x="1785463" y="15005529"/>
            <a:ext cx="822960" cy="1874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ight Arrow 123">
            <a:extLst>
              <a:ext uri="{FF2B5EF4-FFF2-40B4-BE49-F238E27FC236}">
                <a16:creationId xmlns:a16="http://schemas.microsoft.com/office/drawing/2014/main" id="{92F2B66F-F7F7-ED60-D777-5797EE222002}"/>
              </a:ext>
            </a:extLst>
          </p:cNvPr>
          <p:cNvSpPr/>
          <p:nvPr/>
        </p:nvSpPr>
        <p:spPr>
          <a:xfrm rot="7656990">
            <a:off x="5255416" y="14879573"/>
            <a:ext cx="822960" cy="1874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D2892A3-088D-7347-45DF-915C9220780C}"/>
              </a:ext>
            </a:extLst>
          </p:cNvPr>
          <p:cNvSpPr txBox="1"/>
          <p:nvPr/>
        </p:nvSpPr>
        <p:spPr>
          <a:xfrm>
            <a:off x="685800" y="16930116"/>
            <a:ext cx="380591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bg1"/>
                </a:solidFill>
              </a:rPr>
              <a:t>CONCLUSIONS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4368</TotalTime>
  <Words>563</Words>
  <Application>Microsoft Macintosh PowerPoint</Application>
  <PresentationFormat>Custom</PresentationFormat>
  <Paragraphs>98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Trebuchet MS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Shubhan N. Tamhane</cp:lastModifiedBy>
  <cp:revision>8</cp:revision>
  <dcterms:created xsi:type="dcterms:W3CDTF">2026-03-06T19:02:32Z</dcterms:created>
  <dcterms:modified xsi:type="dcterms:W3CDTF">2026-05-04T23:23:03Z</dcterms:modified>
</cp:coreProperties>
</file>